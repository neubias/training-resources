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474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29"/>
    <p:restoredTop sz="94762"/>
  </p:normalViewPr>
  <p:slideViewPr>
    <p:cSldViewPr snapToGrid="0">
      <p:cViewPr>
        <p:scale>
          <a:sx n="105" d="100"/>
          <a:sy n="105" d="100"/>
        </p:scale>
        <p:origin x="144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E18C3-BE54-304B-9A76-EE02D04C62D1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CE0DF-04C4-3B40-AAD2-7450373A73A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4209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71F8-1DCF-0E89-A3C1-BB74BF5D0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76DA4-A82C-D60F-8807-F39A2DD06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04831-64F6-8AB1-4222-2BE0AF82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B8C8D-7371-EE3E-96AB-77046DE43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E040F-7E9B-19A7-539D-D25AD84F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255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1AB9-6EFD-B35F-94EA-32AC0837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0D005-5869-116B-FE39-23D14F58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4FF95-11FA-BEA9-ABE6-D5CDCBDB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8B1BF-6595-7E29-79F6-C8F7FCB8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164D2-501C-FCDB-8855-763BBFD39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14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7A7B-9492-A804-DADB-A20581869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A5D0E-F4FC-F7A4-3579-0A0CA8535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2A68D-55F3-31F3-7498-22245EFB8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92926-677E-35C2-BD24-D5BE23B0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188D3-45A7-5DB3-BAFA-E78AE3CA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80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C1F78-BBE7-1BEB-DB63-FE7D1B798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16BFD-9B4F-8B76-90A6-D570EF8E38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AA9DB-A5E3-35AD-BF39-CD74C9CF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94601-4B43-57B4-D5B8-A0E8826F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36CAD-B08D-DC4C-AE99-909EC1E3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918C7-C2F9-8644-1D9E-7C0274D6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981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C283-E531-46A8-BCB8-89696615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D9FA7-FB4C-A408-6376-6DE1FE69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CCC3C3-D0C8-0FA6-CFC0-AD0BD2B37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31D127-A286-F7FD-0356-56999DFD2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989143-41C1-A34A-65A8-6AB1F6CA7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0BA3A-E650-E0D9-3079-4629B4A7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5C4BEF-B790-E5F5-B262-3EB12749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BEA00-C2B6-C64B-2114-56832EEAA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688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25909-E2D9-7A7A-1B37-86DD4D15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46D16-FD4C-D797-CA31-D0BB9DFA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364FD-416A-52EB-AE22-A1AEE994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7FC76-723D-D792-FBDF-C9E49FEE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335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72C7A-A76B-9082-DE4B-7350C647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07FAB-B088-3D3E-4608-3DED3190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CA178-D4E2-8ED9-91B7-28007784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5189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F282-2CF1-2447-25A1-687F5612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723A2-B7CE-A004-EC19-E11992168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1DCBB-8A71-C13E-C2AE-BABC4FEAB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1860B-8B9C-9074-DC8A-5A036157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601EF-AB77-DFF5-1554-C1CBDD4C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2DDDD-41FD-0D29-8727-06BFED85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331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86E6-3092-97B1-8315-D137D39A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44B56-38C3-CFDC-FE7A-7C9822926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E6FFC-083E-938B-C3F6-55B75137E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FB13A-659D-1313-AA90-5A049B6B3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C8006-A686-2771-E690-C5A7A34F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62C79-22F4-9D7B-A562-F1D9399A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472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E9E0-DAD1-1A9D-C105-87A8CF9CA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3DAAF-4790-D654-1F65-4E5703578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2FD42-71DE-40E1-65AD-464B8318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3416-08FD-B8A3-0EF2-578FD02AA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E1459-A753-08E4-C650-F411F24D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3639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76B9E-3138-C979-EF4B-699BD8120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ACC63-07AC-BA7B-6CCF-C6A4EB02C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62EB5-A931-51D1-5FFB-820197DF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8A97D-7E06-47BC-8551-1EABFE523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28549-80B3-C84C-8CDE-88C9707F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11300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19E6C-F33A-C13D-899E-218DA9DC6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26C77-2A56-246A-F688-601AE9FC3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D85D9-C55E-450F-302D-A1710153B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56873-501F-A744-AAAE-0CDF6C6A3E0B}" type="datetimeFigureOut">
              <a:rPr lang="en-DE" smtClean="0"/>
              <a:t>23.04.26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AAE92-D876-6695-85B7-E30963837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5DE4A-600F-7544-A595-5AD3D12E8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1AFBA2-34DA-8545-A99C-F8F6E5CD688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78768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E0E3011-D9C4-A44A-55FE-2526430C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Spherical Aberrations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39371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4AA3F703-40B7-24A8-4682-265FDA566A49}"/>
              </a:ext>
            </a:extLst>
          </p:cNvPr>
          <p:cNvGrpSpPr/>
          <p:nvPr/>
        </p:nvGrpSpPr>
        <p:grpSpPr>
          <a:xfrm>
            <a:off x="4031412" y="491494"/>
            <a:ext cx="7845207" cy="3507329"/>
            <a:chOff x="4134385" y="3407988"/>
            <a:chExt cx="6451280" cy="2884151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4B870236-5B78-EAE2-1101-58B30848F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2124" t="16711" r="8834" b="6206"/>
            <a:stretch>
              <a:fillRect/>
            </a:stretch>
          </p:blipFill>
          <p:spPr>
            <a:xfrm rot="10800000">
              <a:off x="8436825" y="3429000"/>
              <a:ext cx="2037947" cy="2347736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3547210-7174-3248-0916-4B2552060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 flipH="1">
              <a:off x="4295383" y="3429000"/>
              <a:ext cx="4094840" cy="234773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EC2B8D-DD39-1EDD-E57D-A3122900D3C0}"/>
                </a:ext>
              </a:extLst>
            </p:cNvPr>
            <p:cNvSpPr txBox="1"/>
            <p:nvPr/>
          </p:nvSpPr>
          <p:spPr>
            <a:xfrm>
              <a:off x="4536920" y="5808212"/>
              <a:ext cx="1152711" cy="253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Air objective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876C5FF-4249-BC94-E83C-7B843B287277}"/>
                    </a:ext>
                  </a:extLst>
                </p:cNvPr>
                <p:cNvSpPr txBox="1"/>
                <p:nvPr/>
              </p:nvSpPr>
              <p:spPr>
                <a:xfrm>
                  <a:off x="6312835" y="3409630"/>
                  <a:ext cx="2201442" cy="2667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𝐼𝑚𝑚</m:t>
                            </m:r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𝑀𝑜𝑢𝑛</m:t>
                            </m:r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𝑠𝑎𝑚𝑝𝑙𝑒</m:t>
                            </m:r>
                          </m:sub>
                        </m:sSub>
                      </m:oMath>
                    </m:oMathPara>
                  </a14:m>
                  <a:endParaRPr lang="en-US" sz="1400" baseline="-25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B876C5FF-4249-BC94-E83C-7B843B287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2835" y="3409630"/>
                  <a:ext cx="2201442" cy="266748"/>
                </a:xfrm>
                <a:prstGeom prst="rect">
                  <a:avLst/>
                </a:prstGeom>
                <a:blipFill>
                  <a:blip r:embed="rId4"/>
                  <a:stretch>
                    <a:fillRect b="-370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EA2D58D-C564-8573-7B8C-5C9B82DB1FA2}"/>
                </a:ext>
              </a:extLst>
            </p:cNvPr>
            <p:cNvCxnSpPr>
              <a:cxnSpLocks/>
              <a:endCxn id="3" idx="0"/>
            </p:cNvCxnSpPr>
            <p:nvPr/>
          </p:nvCxnSpPr>
          <p:spPr>
            <a:xfrm>
              <a:off x="6322551" y="3407988"/>
              <a:ext cx="20252" cy="236874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5BD69F-9EC8-F160-0742-F2CD7BA32AEC}"/>
                </a:ext>
              </a:extLst>
            </p:cNvPr>
            <p:cNvSpPr/>
            <p:nvPr/>
          </p:nvSpPr>
          <p:spPr>
            <a:xfrm>
              <a:off x="7589773" y="5988375"/>
              <a:ext cx="801467" cy="30376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6213" indent="-176213" algn="ctr">
                <a:lnSpc>
                  <a:spcPct val="120000"/>
                </a:lnSpc>
                <a:buClr>
                  <a:srgbClr val="116656"/>
                </a:buClr>
                <a:buSzPct val="120000"/>
                <a:buFont typeface="Wingdings" pitchFamily="2" charset="2"/>
                <a:buChar char="§"/>
              </a:pPr>
              <a:endParaRPr lang="en-US" sz="1400" dirty="0" err="1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990114E-3BC3-EA9A-EFC5-471B2DCD2063}"/>
                </a:ext>
              </a:extLst>
            </p:cNvPr>
            <p:cNvSpPr txBox="1"/>
            <p:nvPr/>
          </p:nvSpPr>
          <p:spPr>
            <a:xfrm>
              <a:off x="6447573" y="5808212"/>
              <a:ext cx="1529882" cy="253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Water objective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8C35795-7EA3-32DD-00AD-B21BDABC00EB}"/>
                    </a:ext>
                  </a:extLst>
                </p:cNvPr>
                <p:cNvSpPr txBox="1"/>
                <p:nvPr/>
              </p:nvSpPr>
              <p:spPr>
                <a:xfrm>
                  <a:off x="4134385" y="3407988"/>
                  <a:ext cx="2226324" cy="2667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𝐼𝑚𝑚</m:t>
                            </m:r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𝑀𝑜𝑢</m:t>
                            </m:r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𝑠𝑎𝑚𝑝𝑙𝑒</m:t>
                            </m:r>
                          </m:sub>
                        </m:sSub>
                      </m:oMath>
                    </m:oMathPara>
                  </a14:m>
                  <a:endParaRPr lang="en-US" sz="1400" baseline="-25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B8C35795-7EA3-32DD-00AD-B21BDABC00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4385" y="3407988"/>
                  <a:ext cx="2226324" cy="26674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52B2BA2-380C-623F-F459-E3B9345E1642}"/>
                </a:ext>
              </a:extLst>
            </p:cNvPr>
            <p:cNvSpPr/>
            <p:nvPr/>
          </p:nvSpPr>
          <p:spPr>
            <a:xfrm flipH="1">
              <a:off x="4560198" y="4166043"/>
              <a:ext cx="1549271" cy="1250840"/>
            </a:xfrm>
            <a:prstGeom prst="ellipse">
              <a:avLst/>
            </a:prstGeom>
            <a:noFill/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6213" indent="-176213" algn="ctr">
                <a:lnSpc>
                  <a:spcPct val="120000"/>
                </a:lnSpc>
                <a:buClr>
                  <a:srgbClr val="116656"/>
                </a:buClr>
                <a:buSzPct val="120000"/>
                <a:buFont typeface="Wingdings" pitchFamily="2" charset="2"/>
                <a:buChar char="§"/>
              </a:pPr>
              <a:endParaRPr lang="en-US" sz="1400" dirty="0" err="1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401B39C-8B44-606B-5980-3750ADB77A82}"/>
                </a:ext>
              </a:extLst>
            </p:cNvPr>
            <p:cNvSpPr/>
            <p:nvPr/>
          </p:nvSpPr>
          <p:spPr>
            <a:xfrm>
              <a:off x="8609596" y="3749206"/>
              <a:ext cx="1809606" cy="1756282"/>
            </a:xfrm>
            <a:prstGeom prst="ellipse">
              <a:avLst/>
            </a:prstGeom>
            <a:noFill/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6213" indent="-176213" algn="ctr">
                <a:lnSpc>
                  <a:spcPct val="120000"/>
                </a:lnSpc>
                <a:buClr>
                  <a:srgbClr val="116656"/>
                </a:buClr>
                <a:buSzPct val="120000"/>
                <a:buFont typeface="Wingdings" pitchFamily="2" charset="2"/>
                <a:buChar char="§"/>
              </a:pPr>
              <a:endParaRPr lang="en-US" sz="1400" dirty="0" err="1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523222E-759C-083D-56D1-C7C103620E26}"/>
                </a:ext>
              </a:extLst>
            </p:cNvPr>
            <p:cNvGrpSpPr/>
            <p:nvPr/>
          </p:nvGrpSpPr>
          <p:grpSpPr>
            <a:xfrm>
              <a:off x="4267322" y="5311269"/>
              <a:ext cx="495785" cy="458938"/>
              <a:chOff x="5594788" y="4738949"/>
              <a:chExt cx="866886" cy="802458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BE8BCD82-A0F7-91AA-4433-96302947C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7417" y="5123521"/>
                <a:ext cx="322816" cy="0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DE0B0F5F-B3D1-C413-8EAC-FB7C3A852E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25085" y="4738949"/>
                <a:ext cx="7620" cy="369332"/>
              </a:xfrm>
              <a:prstGeom prst="straightConnector1">
                <a:avLst/>
              </a:prstGeom>
              <a:ln w="3810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1B024E8-5400-CF94-0861-488A1E0C3E9B}"/>
                  </a:ext>
                </a:extLst>
              </p:cNvPr>
              <p:cNvSpPr txBox="1"/>
              <p:nvPr/>
            </p:nvSpPr>
            <p:spPr>
              <a:xfrm>
                <a:off x="6053253" y="5098874"/>
                <a:ext cx="408421" cy="442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X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DF5EC5-4D45-6BF9-7CAE-10395C311A1C}"/>
                  </a:ext>
                </a:extLst>
              </p:cNvPr>
              <p:cNvSpPr txBox="1"/>
              <p:nvPr/>
            </p:nvSpPr>
            <p:spPr>
              <a:xfrm>
                <a:off x="5594788" y="4738949"/>
                <a:ext cx="399202" cy="442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Z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21C93C0-5E41-7370-65F6-B92579E0A1E6}"/>
                    </a:ext>
                  </a:extLst>
                </p:cNvPr>
                <p:cNvSpPr txBox="1"/>
                <p:nvPr/>
              </p:nvSpPr>
              <p:spPr>
                <a:xfrm>
                  <a:off x="8359341" y="3437770"/>
                  <a:ext cx="2226324" cy="2667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𝐼𝑚𝑚</m:t>
                            </m:r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𝑀𝑜𝑢</m:t>
                            </m:r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𝑛𝑡</m:t>
                            </m:r>
                          </m:sub>
                        </m:s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𝑠𝑎𝑚𝑝𝑙𝑒</m:t>
                            </m:r>
                          </m:sub>
                        </m:sSub>
                      </m:oMath>
                    </m:oMathPara>
                  </a14:m>
                  <a:endParaRPr lang="en-US" sz="1400" baseline="-25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21C93C0-5E41-7370-65F6-B92579E0A1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341" y="3437770"/>
                  <a:ext cx="2226324" cy="26674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D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701FF03-5AEB-347D-2DEE-AD86FD8E85B0}"/>
                </a:ext>
              </a:extLst>
            </p:cNvPr>
            <p:cNvSpPr/>
            <p:nvPr/>
          </p:nvSpPr>
          <p:spPr>
            <a:xfrm flipH="1">
              <a:off x="6456767" y="3805064"/>
              <a:ext cx="1549271" cy="1617103"/>
            </a:xfrm>
            <a:prstGeom prst="ellipse">
              <a:avLst/>
            </a:prstGeom>
            <a:noFill/>
            <a:ln w="127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marL="176213" indent="-176213" algn="ctr">
                <a:lnSpc>
                  <a:spcPct val="120000"/>
                </a:lnSpc>
                <a:buClr>
                  <a:srgbClr val="116656"/>
                </a:buClr>
                <a:buSzPct val="120000"/>
                <a:buFont typeface="Wingdings" pitchFamily="2" charset="2"/>
                <a:buChar char="§"/>
              </a:pPr>
              <a:endParaRPr lang="en-US" sz="1400" dirty="0" err="1">
                <a:solidFill>
                  <a:schemeClr val="tx1"/>
                </a:solidFill>
                <a:latin typeface="Verdana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01CDEF-1F4C-C47F-F42E-7859FCAF0557}"/>
                </a:ext>
              </a:extLst>
            </p:cNvPr>
            <p:cNvSpPr txBox="1"/>
            <p:nvPr/>
          </p:nvSpPr>
          <p:spPr>
            <a:xfrm>
              <a:off x="8722579" y="5817346"/>
              <a:ext cx="1583640" cy="430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Silicone objective</a:t>
              </a:r>
            </a:p>
            <a:p>
              <a:pPr algn="ctr"/>
              <a:r>
                <a:rPr lang="en-US" sz="1400" dirty="0"/>
                <a:t>mount in </a:t>
              </a:r>
              <a:r>
                <a:rPr lang="en-US" sz="1400" dirty="0" err="1"/>
                <a:t>optiprep</a:t>
              </a:r>
              <a:endParaRPr lang="en-US" sz="14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9C40893-BEE8-1A6E-421E-409AE08080C6}"/>
              </a:ext>
            </a:extLst>
          </p:cNvPr>
          <p:cNvGrpSpPr/>
          <p:nvPr/>
        </p:nvGrpSpPr>
        <p:grpSpPr>
          <a:xfrm>
            <a:off x="6483441" y="3965301"/>
            <a:ext cx="3197236" cy="2801275"/>
            <a:chOff x="6409334" y="277885"/>
            <a:chExt cx="3197236" cy="2801275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1D452D62-BD9B-5E48-8BC8-1E82BAA3422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09334" y="277885"/>
              <a:ext cx="3197236" cy="2801275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436DFDA-6DE5-593E-3A7E-7B7287C6EE46}"/>
                </a:ext>
              </a:extLst>
            </p:cNvPr>
            <p:cNvSpPr txBox="1"/>
            <p:nvPr/>
          </p:nvSpPr>
          <p:spPr>
            <a:xfrm>
              <a:off x="7345617" y="2399173"/>
              <a:ext cx="1479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OBJECTIVE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2F1C143-3040-091A-41BE-50D8C73EFD6F}"/>
                </a:ext>
              </a:extLst>
            </p:cNvPr>
            <p:cNvSpPr txBox="1"/>
            <p:nvPr/>
          </p:nvSpPr>
          <p:spPr>
            <a:xfrm>
              <a:off x="6540304" y="344929"/>
              <a:ext cx="1237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RI</a:t>
              </a:r>
              <a:r>
                <a:rPr lang="en-US" sz="2000" baseline="-25000" dirty="0" err="1"/>
                <a:t>Mounting</a:t>
              </a:r>
              <a:endParaRPr lang="en-US" baseline="-250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ACF9741-B4DA-DE77-396A-A88D5F1416AD}"/>
                </a:ext>
              </a:extLst>
            </p:cNvPr>
            <p:cNvSpPr txBox="1"/>
            <p:nvPr/>
          </p:nvSpPr>
          <p:spPr>
            <a:xfrm>
              <a:off x="6478566" y="1393488"/>
              <a:ext cx="9044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RI</a:t>
              </a:r>
              <a:r>
                <a:rPr lang="en-US" sz="2000" baseline="-25000" dirty="0" err="1"/>
                <a:t>Glass</a:t>
              </a:r>
              <a:endParaRPr lang="en-US" baseline="-250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3B9530-B0CE-DD43-4068-1CF420472E85}"/>
                </a:ext>
              </a:extLst>
            </p:cNvPr>
            <p:cNvSpPr txBox="1"/>
            <p:nvPr/>
          </p:nvSpPr>
          <p:spPr>
            <a:xfrm>
              <a:off x="7337934" y="914238"/>
              <a:ext cx="10839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RI</a:t>
              </a:r>
              <a:r>
                <a:rPr lang="en-US" sz="2000" baseline="-25000" dirty="0" err="1"/>
                <a:t>Sample</a:t>
              </a:r>
              <a:endParaRPr lang="en-US" baseline="-25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6E38C68-E1A0-916B-9E2F-0394478E3CB1}"/>
                </a:ext>
              </a:extLst>
            </p:cNvPr>
            <p:cNvSpPr txBox="1"/>
            <p:nvPr/>
          </p:nvSpPr>
          <p:spPr>
            <a:xfrm>
              <a:off x="7451415" y="1721650"/>
              <a:ext cx="13740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RI</a:t>
              </a:r>
              <a:r>
                <a:rPr lang="en-US" sz="2000" baseline="-25000" dirty="0" err="1"/>
                <a:t>Immersion</a:t>
              </a:r>
              <a:endParaRPr lang="en-US" baseline="-25000" dirty="0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457BF031-0867-33B0-176D-4C0EF90A3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6935" y="2961639"/>
            <a:ext cx="3667857" cy="3726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324EEE8-F1CC-4D1F-D61E-4319F3665821}"/>
              </a:ext>
            </a:extLst>
          </p:cNvPr>
          <p:cNvSpPr txBox="1"/>
          <p:nvPr/>
        </p:nvSpPr>
        <p:spPr>
          <a:xfrm>
            <a:off x="-57565" y="2288119"/>
            <a:ext cx="2116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dirty="0"/>
              <a:t>All rays meet at the </a:t>
            </a:r>
          </a:p>
          <a:p>
            <a:pPr algn="ctr"/>
            <a:r>
              <a:rPr lang="en-GB" dirty="0"/>
              <a:t>F</a:t>
            </a:r>
            <a:r>
              <a:rPr lang="en-DE" dirty="0"/>
              <a:t>ocal point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C97761-2A7E-2533-B68B-AD9DC5D74AD7}"/>
              </a:ext>
            </a:extLst>
          </p:cNvPr>
          <p:cNvSpPr txBox="1"/>
          <p:nvPr/>
        </p:nvSpPr>
        <p:spPr>
          <a:xfrm>
            <a:off x="2234964" y="2288118"/>
            <a:ext cx="13235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Spherical </a:t>
            </a:r>
            <a:br>
              <a:rPr lang="en-US" dirty="0"/>
            </a:br>
            <a:r>
              <a:rPr lang="en-US" dirty="0"/>
              <a:t>aberrations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05008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50</Words>
  <Application>Microsoft Macintosh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Verdana</vt:lpstr>
      <vt:lpstr>Wingdings</vt:lpstr>
      <vt:lpstr>Office Theme</vt:lpstr>
      <vt:lpstr>Spherical Aberrations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Politi, Antonio</dc:creator>
  <cp:lastModifiedBy>Politi, Antonio</cp:lastModifiedBy>
  <cp:revision>26</cp:revision>
  <dcterms:created xsi:type="dcterms:W3CDTF">2026-02-21T12:42:28Z</dcterms:created>
  <dcterms:modified xsi:type="dcterms:W3CDTF">2026-04-23T15:22:21Z</dcterms:modified>
</cp:coreProperties>
</file>