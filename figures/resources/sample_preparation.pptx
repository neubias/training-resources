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8" r:id="rId3"/>
    <p:sldId id="257" r:id="rId4"/>
  </p:sldIdLst>
  <p:sldSz cx="24384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93"/>
  </p:normalViewPr>
  <p:slideViewPr>
    <p:cSldViewPr snapToGrid="0">
      <p:cViewPr>
        <p:scale>
          <a:sx n="50" d="100"/>
          <a:sy n="50" d="100"/>
        </p:scale>
        <p:origin x="1445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201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3955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6123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2214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88893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0165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01028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5658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418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0905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2181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CDD28-0A48-0E47-898B-1110AC508CAE}" type="datetimeFigureOut">
              <a:rPr lang="en-DE" smtClean="0"/>
              <a:t>06/10/2026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37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9143A-B4F7-C5A0-A1A2-49B393710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/>
              <a:t>preparation artefact</a:t>
            </a:r>
            <a:endParaRPr lang="en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334E60-4D97-F6E0-64A5-3D790E1EBE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6851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rrow: Down 17">
            <a:extLst>
              <a:ext uri="{FF2B5EF4-FFF2-40B4-BE49-F238E27FC236}">
                <a16:creationId xmlns:a16="http://schemas.microsoft.com/office/drawing/2014/main" id="{1BB5C903-2C50-D707-2AE6-0AA56B32DA5E}"/>
              </a:ext>
            </a:extLst>
          </p:cNvPr>
          <p:cNvSpPr/>
          <p:nvPr/>
        </p:nvSpPr>
        <p:spPr>
          <a:xfrm rot="16200000">
            <a:off x="11059690" y="-5544889"/>
            <a:ext cx="1934448" cy="17348225"/>
          </a:xfrm>
          <a:prstGeom prst="down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BE06F6D-739B-C73B-FE52-DFDF94722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798" y="1256837"/>
            <a:ext cx="3319445" cy="3605758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22F5F54-F7DA-CED8-2CEF-E8A8443ABF7A}"/>
              </a:ext>
            </a:extLst>
          </p:cNvPr>
          <p:cNvSpPr/>
          <p:nvPr/>
        </p:nvSpPr>
        <p:spPr>
          <a:xfrm>
            <a:off x="9502664" y="1673501"/>
            <a:ext cx="4061854" cy="3136200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6542290E-0B5F-10ED-A08C-CBEC9DD20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9316" y="1696760"/>
            <a:ext cx="2528551" cy="171829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D5DAD51-66EB-A4CD-44A5-C78652D62E2F}"/>
              </a:ext>
            </a:extLst>
          </p:cNvPr>
          <p:cNvSpPr txBox="1"/>
          <p:nvPr/>
        </p:nvSpPr>
        <p:spPr>
          <a:xfrm>
            <a:off x="21109191" y="672062"/>
            <a:ext cx="27284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Stained sample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C69280-B583-3C5F-4DD0-44FCCB3AE8D7}"/>
              </a:ext>
            </a:extLst>
          </p:cNvPr>
          <p:cNvGrpSpPr/>
          <p:nvPr/>
        </p:nvGrpSpPr>
        <p:grpSpPr>
          <a:xfrm>
            <a:off x="3569831" y="1625206"/>
            <a:ext cx="5657962" cy="3184496"/>
            <a:chOff x="7410677" y="792480"/>
            <a:chExt cx="6080035" cy="3345936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EB824C7-8E36-DA0F-CF53-8046F6764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10677" y="796372"/>
              <a:ext cx="6080035" cy="3342043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58C4BDA-39CD-E94A-DFD7-9CE6FCC6EF93}"/>
                </a:ext>
              </a:extLst>
            </p:cNvPr>
            <p:cNvSpPr/>
            <p:nvPr/>
          </p:nvSpPr>
          <p:spPr>
            <a:xfrm>
              <a:off x="7424488" y="792480"/>
              <a:ext cx="6038353" cy="3345936"/>
            </a:xfrm>
            <a:prstGeom prst="rect">
              <a:avLst/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D9D4D63-E050-7C00-3AB3-F3142ED7355F}"/>
              </a:ext>
            </a:extLst>
          </p:cNvPr>
          <p:cNvSpPr txBox="1"/>
          <p:nvPr/>
        </p:nvSpPr>
        <p:spPr>
          <a:xfrm>
            <a:off x="5056371" y="1016941"/>
            <a:ext cx="30506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Chemical fixation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BC5463-E985-6ED2-AA9B-36D355D47DD6}"/>
              </a:ext>
            </a:extLst>
          </p:cNvPr>
          <p:cNvSpPr txBox="1"/>
          <p:nvPr/>
        </p:nvSpPr>
        <p:spPr>
          <a:xfrm>
            <a:off x="10227698" y="1052217"/>
            <a:ext cx="29775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Permeabilization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AA1CB1-984B-5736-3B99-15E5F3394FED}"/>
              </a:ext>
            </a:extLst>
          </p:cNvPr>
          <p:cNvSpPr/>
          <p:nvPr/>
        </p:nvSpPr>
        <p:spPr>
          <a:xfrm>
            <a:off x="13762511" y="1678397"/>
            <a:ext cx="5663953" cy="3180791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28904AF-1B6F-A04B-9C46-40A5FD0BEF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68889" y="1704790"/>
            <a:ext cx="4251197" cy="1829304"/>
          </a:xfrm>
          <a:prstGeom prst="rect">
            <a:avLst/>
          </a:prstGeom>
          <a:ln>
            <a:noFill/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AF49C33-28D8-D932-D161-42388E07F901}"/>
              </a:ext>
            </a:extLst>
          </p:cNvPr>
          <p:cNvSpPr txBox="1"/>
          <p:nvPr/>
        </p:nvSpPr>
        <p:spPr>
          <a:xfrm>
            <a:off x="9885469" y="3516502"/>
            <a:ext cx="3296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Triton, Tween, ….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0DB3CA-94C9-BFBF-0F43-9CA9A09BACAB}"/>
              </a:ext>
            </a:extLst>
          </p:cNvPr>
          <p:cNvSpPr txBox="1"/>
          <p:nvPr/>
        </p:nvSpPr>
        <p:spPr>
          <a:xfrm>
            <a:off x="15942844" y="1058646"/>
            <a:ext cx="16690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Labelling</a:t>
            </a:r>
          </a:p>
        </p:txBody>
      </p:sp>
      <p:pic>
        <p:nvPicPr>
          <p:cNvPr id="37" name="Graphic 36">
            <a:extLst>
              <a:ext uri="{FF2B5EF4-FFF2-40B4-BE49-F238E27FC236}">
                <a16:creationId xmlns:a16="http://schemas.microsoft.com/office/drawing/2014/main" id="{4EBEA1F8-7314-37BA-A737-8F3D5505C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784323" y="1256837"/>
            <a:ext cx="3261309" cy="3602736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99FCF8FC-7A44-7DD1-5B2B-83399549A8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94755" y="3980369"/>
            <a:ext cx="762515" cy="762515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08C4DF9A-3FAB-6753-7CD0-4D7492725D1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677138" y="3980369"/>
            <a:ext cx="762515" cy="762515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52F1EA7F-2999-1967-524C-DAC1D5B4042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608274" y="3980369"/>
            <a:ext cx="762515" cy="7625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CED495C-3D5F-378B-0737-9AD69F858A66}"/>
              </a:ext>
            </a:extLst>
          </p:cNvPr>
          <p:cNvSpPr txBox="1"/>
          <p:nvPr/>
        </p:nvSpPr>
        <p:spPr>
          <a:xfrm>
            <a:off x="13812128" y="3546982"/>
            <a:ext cx="5564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Immunolabelling, direct labelling, 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A77C3F-3164-6236-BFBD-AD0B5C5C1411}"/>
              </a:ext>
            </a:extLst>
          </p:cNvPr>
          <p:cNvSpPr txBox="1"/>
          <p:nvPr/>
        </p:nvSpPr>
        <p:spPr>
          <a:xfrm>
            <a:off x="7760531" y="5551563"/>
            <a:ext cx="88629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Example sample preparation artefacts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B433B3-80CD-ADCA-4946-383571063EE0}"/>
              </a:ext>
            </a:extLst>
          </p:cNvPr>
          <p:cNvGrpSpPr/>
          <p:nvPr/>
        </p:nvGrpSpPr>
        <p:grpSpPr>
          <a:xfrm>
            <a:off x="2453640" y="6950104"/>
            <a:ext cx="4678680" cy="4790919"/>
            <a:chOff x="2057400" y="6950104"/>
            <a:chExt cx="4678680" cy="4790919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C84D84B3-2A43-DF9B-BC98-E45FA000B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276550" y="7733335"/>
              <a:ext cx="4240380" cy="340544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4E98005-F11C-4D40-D428-851E2AD9ECD4}"/>
                </a:ext>
              </a:extLst>
            </p:cNvPr>
            <p:cNvSpPr txBox="1"/>
            <p:nvPr/>
          </p:nvSpPr>
          <p:spPr>
            <a:xfrm>
              <a:off x="3326640" y="6957496"/>
              <a:ext cx="214020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Penetration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0D0F3BF-23CE-F37D-B4AB-38C0C5DCD494}"/>
                </a:ext>
              </a:extLst>
            </p:cNvPr>
            <p:cNvSpPr/>
            <p:nvPr/>
          </p:nvSpPr>
          <p:spPr>
            <a:xfrm>
              <a:off x="2057400" y="6950104"/>
              <a:ext cx="4678680" cy="47909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DC58174-A5C1-026C-F3AC-959036C5589C}"/>
              </a:ext>
            </a:extLst>
          </p:cNvPr>
          <p:cNvGrpSpPr/>
          <p:nvPr/>
        </p:nvGrpSpPr>
        <p:grpSpPr>
          <a:xfrm>
            <a:off x="9426090" y="6950104"/>
            <a:ext cx="5137685" cy="4790919"/>
            <a:chOff x="9201857" y="6950104"/>
            <a:chExt cx="5137685" cy="4790919"/>
          </a:xfrm>
        </p:grpSpPr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9C467D1D-9D45-53D4-EE01-BA1394E31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650509" y="7931275"/>
              <a:ext cx="4240380" cy="3405446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B8D78CB-F39C-BFF2-BEEC-B91898FC9F2B}"/>
                </a:ext>
              </a:extLst>
            </p:cNvPr>
            <p:cNvSpPr txBox="1"/>
            <p:nvPr/>
          </p:nvSpPr>
          <p:spPr>
            <a:xfrm>
              <a:off x="9240712" y="6957496"/>
              <a:ext cx="505997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Structure is poorly conserved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7447C1F-9A3F-29C7-0CFA-7CC1551498F9}"/>
                </a:ext>
              </a:extLst>
            </p:cNvPr>
            <p:cNvSpPr/>
            <p:nvPr/>
          </p:nvSpPr>
          <p:spPr>
            <a:xfrm>
              <a:off x="9201857" y="6950104"/>
              <a:ext cx="5137685" cy="47909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7E4B93D-2FE7-44D4-3162-8A732B343D64}"/>
              </a:ext>
            </a:extLst>
          </p:cNvPr>
          <p:cNvGrpSpPr/>
          <p:nvPr/>
        </p:nvGrpSpPr>
        <p:grpSpPr>
          <a:xfrm>
            <a:off x="16857545" y="6950104"/>
            <a:ext cx="5059976" cy="4790919"/>
            <a:chOff x="16461305" y="6950104"/>
            <a:chExt cx="5059976" cy="479091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528D0040-F4F9-2340-BC7A-B4CCF9669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6871103" y="7733335"/>
              <a:ext cx="4240380" cy="3623393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C99F3EF-FFD5-BD29-A16A-36C3D6EB7331}"/>
                </a:ext>
              </a:extLst>
            </p:cNvPr>
            <p:cNvSpPr txBox="1"/>
            <p:nvPr/>
          </p:nvSpPr>
          <p:spPr>
            <a:xfrm>
              <a:off x="16690503" y="6957496"/>
              <a:ext cx="46015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Shape changes (shrinkage)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8946DCE-242A-8826-659B-6AF6551C5342}"/>
                </a:ext>
              </a:extLst>
            </p:cNvPr>
            <p:cNvSpPr/>
            <p:nvPr/>
          </p:nvSpPr>
          <p:spPr>
            <a:xfrm>
              <a:off x="16461305" y="6950104"/>
              <a:ext cx="5059976" cy="47909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6296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3A426F-6095-717A-2CB1-398C6645B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591"/>
          <a:stretch>
            <a:fillRect/>
          </a:stretch>
        </p:blipFill>
        <p:spPr>
          <a:xfrm>
            <a:off x="2655551" y="3705491"/>
            <a:ext cx="5565170" cy="49351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9F5DC5-B2DB-223F-1A7A-3600062AC7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291"/>
          <a:stretch>
            <a:fillRect/>
          </a:stretch>
        </p:blipFill>
        <p:spPr>
          <a:xfrm>
            <a:off x="8399179" y="3705491"/>
            <a:ext cx="5522082" cy="49351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54A11E-BE02-EA64-1463-F977354D3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r="21946"/>
          <a:stretch>
            <a:fillRect/>
          </a:stretch>
        </p:blipFill>
        <p:spPr>
          <a:xfrm>
            <a:off x="14099699" y="3705491"/>
            <a:ext cx="5691462" cy="49351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45A3D02-4A41-A4CE-B524-D3D681774FA9}"/>
              </a:ext>
            </a:extLst>
          </p:cNvPr>
          <p:cNvSpPr/>
          <p:nvPr/>
        </p:nvSpPr>
        <p:spPr>
          <a:xfrm>
            <a:off x="7004739" y="8271565"/>
            <a:ext cx="1090570" cy="2181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36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99AE8-5820-561F-0797-4EB0412C6B9F}"/>
              </a:ext>
            </a:extLst>
          </p:cNvPr>
          <p:cNvSpPr/>
          <p:nvPr/>
        </p:nvSpPr>
        <p:spPr>
          <a:xfrm>
            <a:off x="12686963" y="8271565"/>
            <a:ext cx="1090570" cy="2181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3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DB40B4-9E24-AF53-F357-E5129F83EBA0}"/>
              </a:ext>
            </a:extLst>
          </p:cNvPr>
          <p:cNvSpPr/>
          <p:nvPr/>
        </p:nvSpPr>
        <p:spPr>
          <a:xfrm>
            <a:off x="18552217" y="8271563"/>
            <a:ext cx="1090570" cy="2181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sz="3600"/>
          </a:p>
        </p:txBody>
      </p:sp>
    </p:spTree>
    <p:extLst>
      <p:ext uri="{BB962C8B-B14F-4D97-AF65-F5344CB8AC3E}">
        <p14:creationId xmlns:p14="http://schemas.microsoft.com/office/powerpoint/2010/main" val="360068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34</Words>
  <Application>Microsoft Office PowerPoint</Application>
  <PresentationFormat>Custom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2013 - 2022 Theme</vt:lpstr>
      <vt:lpstr>Sample preparation artefact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Tischer</dc:creator>
  <cp:lastModifiedBy>Politi, Antonio</cp:lastModifiedBy>
  <cp:revision>17</cp:revision>
  <dcterms:created xsi:type="dcterms:W3CDTF">2026-02-23T13:11:52Z</dcterms:created>
  <dcterms:modified xsi:type="dcterms:W3CDTF">2026-06-10T14:46:27Z</dcterms:modified>
</cp:coreProperties>
</file>