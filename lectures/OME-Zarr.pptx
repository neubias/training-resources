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6" r:id="rId3"/>
    <p:sldId id="277" r:id="rId4"/>
    <p:sldId id="273" r:id="rId5"/>
    <p:sldId id="264" r:id="rId6"/>
    <p:sldId id="271" r:id="rId7"/>
    <p:sldId id="265" r:id="rId8"/>
    <p:sldId id="258" r:id="rId9"/>
    <p:sldId id="268" r:id="rId10"/>
    <p:sldId id="269" r:id="rId11"/>
    <p:sldId id="270" r:id="rId12"/>
    <p:sldId id="257" r:id="rId13"/>
    <p:sldId id="267" r:id="rId14"/>
    <p:sldId id="259" r:id="rId15"/>
    <p:sldId id="275" r:id="rId16"/>
    <p:sldId id="274" r:id="rId17"/>
    <p:sldId id="262" r:id="rId18"/>
    <p:sldId id="266" r:id="rId19"/>
    <p:sldId id="272" r:id="rId20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F3C821-538E-F149-8E31-279350E275EA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928E1E-CD2C-DB40-85E1-CA584BB2DE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4701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5CA9BA-AA2F-3F49-BAEC-998B0713EEDF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8344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: xy_8bit__nucleus_calibrated.tif</a:t>
            </a:r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4596-9333-5B48-AF09-D4A72557A3A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934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41396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EF634-3011-7C89-E6F8-6F542F938A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B1AA13-3A5E-46E5-A235-872D751A7C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0E11-23FC-EA60-6852-CACE0AB28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5C3532-D044-D31D-C27B-68B51886A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30C6F-4BE3-2AF9-B7AF-6BAF266EC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2449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36C2-DCEF-6598-E4C6-4DF589102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ABF78-2E77-A4F8-784E-A51D94F4E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C49BCA-81F6-226E-ED19-3D312A979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A7F68-5694-B285-164F-3D24FD807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5BF4C-B437-55A9-A5EC-13CBAE31C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629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74B0-8B14-8838-149D-2F3563238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A4433-DEF6-64ED-D5AE-3104600E8F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D189B-9326-934C-5CC3-1BE48FAB6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826AD-B73F-8DB1-6F74-95041E06E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A339F-0801-9B50-070F-91E3701B9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1187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1CE5E-E2D7-CE9B-3A02-6B93C599B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C2406-110C-AB90-983F-88F2C1B5B6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DD2B8C-3959-DE44-7CE5-41B1A9AA9B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9C920-A4CF-96F2-24E3-B54273C8C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684611-607E-46C7-D71B-15A94E16B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482145-A423-44A2-F212-5002BFC5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56003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E0632-5247-A314-5A78-1A28BFD55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4472C6-4B02-D35F-0B2D-43446194F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BDD0A-28B5-EA66-0DF3-BBE041CFA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32FF55-23B9-989B-E34B-AD81F0CA7E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414D8E-7968-9D34-CB4F-FB79E79812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3FD9F1-9176-BAE5-6F38-DB8C927A0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92CBA8-F893-EE64-2FB0-A7C851C0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6EF6C9-8B0A-33DE-11C4-1D959B105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7939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FAAC3-D022-7B17-3C67-7E24106CE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C5548D-031D-87CA-EFC5-24A018B73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31D5EB-66B9-5CC9-10E8-799126A6E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C97D08-A2C0-44B7-4D2D-B8BCC9A1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51329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69B01A-91AA-F3C8-C6F7-7D4BABDFE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D93B01-1C6C-290E-7786-2B5144551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ECA84-6B7F-BB22-EE36-85A247A94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09032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C9AE8-DAD5-E2EF-825E-2433A8178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331D3-90F9-5CF4-35F3-DEE57394E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EEF6D-FAF9-A572-20F6-6906338B9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76CE9-EA78-0FCE-9E35-0379CDC19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BC8D4-602C-00A4-D719-699EEDB5C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6F4E3-475F-CF72-1761-92AB5212D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6009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BE0B-C056-3A35-3EBE-EE698AEED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77C8B2-4126-F4AA-76CB-0B55438FE6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9982C8-D69D-5306-2380-1E1D77E3CB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1DEB8-8680-BEEF-7080-92EBD2F42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F324AC-3EB5-BAF3-DC0B-11669A3BF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57653A-98F1-E42E-B438-0AF47EAF0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15882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87EE8-20ED-8C59-783D-91605476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29DA0F-04EA-C2DD-D638-36EB58169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09A70-680F-A048-17DB-25FA197C2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5558A-CDEF-CE43-BE66-F86A5CA1C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E0EF34-0F1E-1FC0-EB3B-86473A033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3229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DAD514-3414-B74D-7FBC-6E3FD469B3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5F1CC-A20D-6078-D7AE-C7510B3FD2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32AFB-BA82-88D7-2B23-33F682B92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BC15F-870C-2829-4379-755E9A360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472283-E5CD-6AB8-1461-3006555D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14099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0025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3AAD8F-DE50-ECFF-FAF4-60DC66551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30958-CFFB-593A-FF2C-89F9AF03E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FAD0D-78D3-32FD-FFD5-F954D7E73E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AFF42-A2E5-AD47-86FD-35C99CD5689E}" type="datetimeFigureOut">
              <a:rPr lang="en-DE" smtClean="0"/>
              <a:t>18.05.26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5554F-4D02-75B8-3046-D4B5C95A9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AFF709-6710-6BB2-117B-D2BA632A8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B13719-4C9B-CD48-B1DF-D1F6130AD14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32565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arr-developers/zarr-illustrations-falk-2022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tiff"/><Relationship Id="rId4" Type="http://schemas.openxmlformats.org/officeDocument/2006/relationships/image" Target="../media/image7.tif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blue-cloud-icon-simple-white-1296737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aken.wikiwijs.nl/103380/ICT_Basisvaardigheden_voor_EOA_leerlingen__Stedelijk_College_Eindhoven__OBB" TargetMode="External"/><Relationship Id="rId4" Type="http://schemas.openxmlformats.org/officeDocument/2006/relationships/image" Target="../media/image21.jp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31FD1-6ACF-91F4-4828-908CC4CC99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/>
              <a:t>The OME-Zarr </a:t>
            </a:r>
            <a:br>
              <a:rPr lang="en-DE" dirty="0"/>
            </a:br>
            <a:r>
              <a:rPr lang="en-DE" dirty="0"/>
              <a:t>image data format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D5A37-9729-AB7F-4B37-016A3136E5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Christian Tischer &amp; Erick Ratamero</a:t>
            </a:r>
          </a:p>
          <a:p>
            <a:r>
              <a:rPr lang="en-DE" dirty="0"/>
              <a:t>Data Science Centre, EMBL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7781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D138-F2A3-3295-5FE5-76D1888E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Content day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90E10-6134-15BD-81A9-EA5EF0845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DE" dirty="0"/>
              <a:t>Digital image basics</a:t>
            </a:r>
            <a:endParaRPr lang="en-DE" b="0" dirty="0">
              <a:effectLst/>
            </a:endParaRPr>
          </a:p>
          <a:p>
            <a:r>
              <a:rPr lang="en-DE" dirty="0"/>
              <a:t>Image metadata (data type, voxel size, channel info)</a:t>
            </a:r>
            <a:endParaRPr lang="en-DE" b="0" dirty="0">
              <a:effectLst/>
            </a:endParaRPr>
          </a:p>
          <a:p>
            <a:r>
              <a:rPr lang="en-DE" dirty="0"/>
              <a:t>Big image data</a:t>
            </a:r>
            <a:endParaRPr lang="en-DE" b="0" dirty="0">
              <a:effectLst/>
            </a:endParaRPr>
          </a:p>
          <a:p>
            <a:pPr lvl="1"/>
            <a:r>
              <a:rPr lang="en-DE" dirty="0"/>
              <a:t>multi-resolution</a:t>
            </a:r>
            <a:endParaRPr lang="en-DE" b="0" dirty="0">
              <a:effectLst/>
            </a:endParaRPr>
          </a:p>
          <a:p>
            <a:pPr lvl="1"/>
            <a:r>
              <a:rPr lang="en-DE" dirty="0"/>
              <a:t>chunking</a:t>
            </a:r>
            <a:endParaRPr lang="en-DE" b="0" dirty="0">
              <a:effectLst/>
            </a:endParaRPr>
          </a:p>
          <a:p>
            <a:r>
              <a:rPr lang="en-DE" dirty="0"/>
              <a:t>OME-Zarr</a:t>
            </a:r>
            <a:endParaRPr lang="en-DE" b="0" dirty="0">
              <a:effectLst/>
            </a:endParaRPr>
          </a:p>
          <a:p>
            <a:pPr lvl="1"/>
            <a:r>
              <a:rPr lang="en-DE" dirty="0"/>
              <a:t>versions</a:t>
            </a:r>
            <a:endParaRPr lang="en-DE" b="0" dirty="0">
              <a:effectLst/>
            </a:endParaRPr>
          </a:p>
          <a:p>
            <a:br>
              <a:rPr lang="en-DE" dirty="0"/>
            </a:b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134092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8A528-CFCC-C883-7701-B36A8AC4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39305-5966-3B72-1984-8BE1FEE1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Content day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E2329-E49C-01A8-B2FA-C6CD18D4C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DE" dirty="0"/>
              <a:t>Sharing with external collaborators</a:t>
            </a:r>
            <a:endParaRPr lang="en-DE" b="0" dirty="0">
              <a:effectLst/>
            </a:endParaRPr>
          </a:p>
          <a:p>
            <a:r>
              <a:rPr lang="en-DE" dirty="0"/>
              <a:t>Remote access for cloud computation</a:t>
            </a:r>
            <a:endParaRPr lang="en-DE" b="0" dirty="0">
              <a:effectLst/>
            </a:endParaRPr>
          </a:p>
          <a:p>
            <a:r>
              <a:rPr lang="en-DE" dirty="0"/>
              <a:t>Challenges</a:t>
            </a:r>
            <a:endParaRPr lang="en-DE" b="0" dirty="0">
              <a:effectLst/>
            </a:endParaRPr>
          </a:p>
          <a:p>
            <a:r>
              <a:rPr lang="en-DE"/>
              <a:t>Object storage</a:t>
            </a:r>
            <a:br>
              <a:rPr lang="en-DE" dirty="0"/>
            </a:br>
            <a:br>
              <a:rPr lang="en-DE" dirty="0"/>
            </a:b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80609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54C0A-9113-8B82-7A3E-0271E6B00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C9B03-3001-4687-77FF-B358D77D5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zenodo.org</a:t>
            </a:r>
            <a:r>
              <a:rPr lang="en-GB" dirty="0"/>
              <a:t>/records/17639350/files/Halfway_to_i2k_conference_2025_JohannesSoltwedel.pptx?download=1</a:t>
            </a:r>
          </a:p>
          <a:p>
            <a:r>
              <a:rPr lang="en-GB" dirty="0">
                <a:hlinkClick r:id="rId2"/>
              </a:rPr>
              <a:t>https://github.com/zarr-developers/zarr-illustrations-falk-2022</a:t>
            </a:r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docs.google.com</a:t>
            </a:r>
            <a:r>
              <a:rPr lang="en-GB" dirty="0"/>
              <a:t>/presentation/d/1Bc2G7gnIN7DCjY5N4DuA3bb2uQQCf-xL4aVPvfpS-oA/</a:t>
            </a:r>
            <a:r>
              <a:rPr lang="en-GB" dirty="0" err="1"/>
              <a:t>edit?slide</a:t>
            </a:r>
            <a:r>
              <a:rPr lang="en-GB" dirty="0"/>
              <a:t>=id.g2a02b0a1836_1_35#slide=id.g2a02b0a1836_1_35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49026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B83D80-55D8-FE4F-8493-B5BE501A1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2730" y="1884943"/>
            <a:ext cx="4116498" cy="41246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DC42C3-0B53-1846-BB3C-8270F5310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7468" y="1629104"/>
            <a:ext cx="4728532" cy="44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416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A8D9A3-49AF-88AD-CA09-6FE5DCA0D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718" y="2638464"/>
            <a:ext cx="3052243" cy="305224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8460B12-1FCE-8843-9F16-F58CFB2F4128}"/>
                  </a:ext>
                </a:extLst>
              </p:cNvPr>
              <p:cNvSpPr txBox="1"/>
              <p:nvPr/>
            </p:nvSpPr>
            <p:spPr>
              <a:xfrm>
                <a:off x="4802907" y="1824665"/>
                <a:ext cx="277883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=12 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0.5 </m:t>
                      </m:r>
                      <m:r>
                        <a:rPr lang="en-US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µ</m:t>
                      </m:r>
                      <m:r>
                        <a:rPr lang="en-US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=6 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∗ </m:t>
                      </m:r>
                      <m:r>
                        <a:rPr lang="en-US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0.5 µ</m:t>
                      </m:r>
                      <m:r>
                        <a:rPr lang="en-US" i="1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8460B12-1FCE-8843-9F16-F58CFB2F4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907" y="1824665"/>
                <a:ext cx="2778838" cy="646331"/>
              </a:xfrm>
              <a:prstGeom prst="rect">
                <a:avLst/>
              </a:prstGeom>
              <a:blipFill>
                <a:blip r:embed="rId4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57BC08D2-26A8-3E40-BB59-5C2B6734CB97}"/>
              </a:ext>
            </a:extLst>
          </p:cNvPr>
          <p:cNvSpPr txBox="1"/>
          <p:nvPr/>
        </p:nvSpPr>
        <p:spPr>
          <a:xfrm>
            <a:off x="3821270" y="1395650"/>
            <a:ext cx="418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Index</a:t>
            </a:r>
            <a:r>
              <a:rPr lang="en-US" dirty="0"/>
              <a:t> * </a:t>
            </a:r>
            <a:r>
              <a:rPr lang="en-US" dirty="0">
                <a:solidFill>
                  <a:schemeClr val="accent6"/>
                </a:solidFill>
              </a:rPr>
              <a:t>Calibration</a:t>
            </a:r>
            <a:r>
              <a:rPr lang="en-US" dirty="0"/>
              <a:t> = Calibrated coordinate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3A2E411-C08A-4640-A448-A379E17AFA64}"/>
              </a:ext>
            </a:extLst>
          </p:cNvPr>
          <p:cNvSpPr/>
          <p:nvPr/>
        </p:nvSpPr>
        <p:spPr>
          <a:xfrm>
            <a:off x="-2517887" y="2638464"/>
            <a:ext cx="111873" cy="10170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D7C7E3-9AFF-044D-943D-8BBF70434797}"/>
              </a:ext>
            </a:extLst>
          </p:cNvPr>
          <p:cNvSpPr txBox="1"/>
          <p:nvPr/>
        </p:nvSpPr>
        <p:spPr>
          <a:xfrm>
            <a:off x="-2949467" y="2280114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 (0,0)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751660E-140E-0145-851A-CAF8945C4609}"/>
              </a:ext>
            </a:extLst>
          </p:cNvPr>
          <p:cNvSpPr/>
          <p:nvPr/>
        </p:nvSpPr>
        <p:spPr>
          <a:xfrm>
            <a:off x="4268220" y="2585223"/>
            <a:ext cx="111873" cy="10170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20AB59-7596-1E4D-84E1-770249E3B1CE}"/>
              </a:ext>
            </a:extLst>
          </p:cNvPr>
          <p:cNvSpPr txBox="1"/>
          <p:nvPr/>
        </p:nvSpPr>
        <p:spPr>
          <a:xfrm>
            <a:off x="3882460" y="2229700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(0,0)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EFBBFBF-1AB9-90C2-ADA6-827A74E37748}"/>
              </a:ext>
            </a:extLst>
          </p:cNvPr>
          <p:cNvSpPr/>
          <p:nvPr/>
        </p:nvSpPr>
        <p:spPr>
          <a:xfrm>
            <a:off x="6080454" y="3542691"/>
            <a:ext cx="111873" cy="10170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7780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A846E5-3D55-F441-907F-420B2B28B907}"/>
              </a:ext>
            </a:extLst>
          </p:cNvPr>
          <p:cNvSpPr txBox="1"/>
          <p:nvPr/>
        </p:nvSpPr>
        <p:spPr>
          <a:xfrm>
            <a:off x="2121853" y="365223"/>
            <a:ext cx="9001758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8-bit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 = 0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00000101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255 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1111111111111111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65535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1000000000000000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= 32768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0000111111111111 =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+ … + 2</a:t>
            </a:r>
            <a:r>
              <a:rPr lang="de-DE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4095</a:t>
            </a:r>
          </a:p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16-bit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signed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integer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000000000000100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32-bit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00000000000000000000010 = 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1.?</a:t>
            </a:r>
            <a:r>
              <a:rPr lang="de-DE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de-DE" baseline="300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24-bit RGB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11111111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00000000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01000000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= (</a:t>
            </a:r>
            <a:r>
              <a:rPr lang="de-DE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de-DE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3261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115CA4-F504-D4F7-DEB3-4A4F108A82ED}"/>
              </a:ext>
            </a:extLst>
          </p:cNvPr>
          <p:cNvSpPr txBox="1"/>
          <p:nvPr/>
        </p:nvSpPr>
        <p:spPr>
          <a:xfrm>
            <a:off x="2556810" y="2039970"/>
            <a:ext cx="7512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011100...1001010010100010</a:t>
            </a:r>
            <a:r>
              <a:rPr lang="en-DE" sz="1400" dirty="0">
                <a:highlight>
                  <a:srgbClr val="8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00000000</a:t>
            </a:r>
            <a:r>
              <a:rPr lang="en-DE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00001000</a:t>
            </a:r>
            <a:r>
              <a:rPr lang="en-DE" sz="1400" dirty="0">
                <a:highlight>
                  <a:srgbClr val="0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00000010</a:t>
            </a:r>
            <a:r>
              <a:rPr lang="en-DE" sz="1400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00101010</a:t>
            </a:r>
            <a:r>
              <a:rPr lang="en-DE" sz="1400" dirty="0">
                <a:highlight>
                  <a:srgbClr val="FF00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00001010</a:t>
            </a:r>
            <a:r>
              <a:rPr lang="en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EC0688-8FD3-73F7-BE17-B9E889F005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849184"/>
              </p:ext>
            </p:extLst>
          </p:nvPr>
        </p:nvGraphicFramePr>
        <p:xfrm>
          <a:off x="6193242" y="3739293"/>
          <a:ext cx="2101444" cy="1543575"/>
        </p:xfrm>
        <a:graphic>
          <a:graphicData uri="http://schemas.openxmlformats.org/drawingml/2006/table">
            <a:tbl>
              <a:tblPr/>
              <a:tblGrid>
                <a:gridCol w="525361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525361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525361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525361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514525"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8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514525"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…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…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…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514525"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…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…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…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…</a:t>
                      </a: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2EE391A-AEA5-77C5-42B9-74970F0D0BC9}"/>
              </a:ext>
            </a:extLst>
          </p:cNvPr>
          <p:cNvCxnSpPr>
            <a:cxnSpLocks/>
          </p:cNvCxnSpPr>
          <p:nvPr/>
        </p:nvCxnSpPr>
        <p:spPr>
          <a:xfrm>
            <a:off x="5309603" y="1666997"/>
            <a:ext cx="0" cy="9982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7A1C703-C25B-5E66-E37B-FA55F76553D8}"/>
              </a:ext>
            </a:extLst>
          </p:cNvPr>
          <p:cNvSpPr txBox="1"/>
          <p:nvPr/>
        </p:nvSpPr>
        <p:spPr>
          <a:xfrm>
            <a:off x="2818581" y="2507030"/>
            <a:ext cx="293423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Pixel d</a:t>
            </a:r>
            <a:r>
              <a:rPr lang="en-DE" dirty="0"/>
              <a:t>ata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Pixel data type (bit-depth)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Image d</a:t>
            </a:r>
            <a:r>
              <a:rPr lang="en-DE" dirty="0"/>
              <a:t>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Compression</a:t>
            </a:r>
          </a:p>
          <a:p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Pixel physical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Microscope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dirty="0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  <a:p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D25340-5D88-CC17-DE6C-5DE35B3C89D2}"/>
              </a:ext>
            </a:extLst>
          </p:cNvPr>
          <p:cNvSpPr txBox="1"/>
          <p:nvPr/>
        </p:nvSpPr>
        <p:spPr>
          <a:xfrm>
            <a:off x="7271390" y="1595710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  <a:endParaRPr lang="en-DE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C42F14-2DF0-FBB0-8143-DFC3881AA522}"/>
              </a:ext>
            </a:extLst>
          </p:cNvPr>
          <p:cNvCxnSpPr>
            <a:cxnSpLocks/>
          </p:cNvCxnSpPr>
          <p:nvPr/>
        </p:nvCxnSpPr>
        <p:spPr>
          <a:xfrm flipV="1">
            <a:off x="4637086" y="2507030"/>
            <a:ext cx="654341" cy="2119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F93447-A444-6170-E75A-F7255D65D3AF}"/>
              </a:ext>
            </a:extLst>
          </p:cNvPr>
          <p:cNvCxnSpPr>
            <a:cxnSpLocks/>
          </p:cNvCxnSpPr>
          <p:nvPr/>
        </p:nvCxnSpPr>
        <p:spPr>
          <a:xfrm flipV="1">
            <a:off x="5643762" y="2384256"/>
            <a:ext cx="1724709" cy="5691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453600C-776F-D19B-89A8-1A40805CC355}"/>
              </a:ext>
            </a:extLst>
          </p:cNvPr>
          <p:cNvSpPr txBox="1"/>
          <p:nvPr/>
        </p:nvSpPr>
        <p:spPr>
          <a:xfrm>
            <a:off x="3413345" y="1593603"/>
            <a:ext cx="1095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Metadata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3921E-E477-3769-B6C3-85244D05CFFF}"/>
              </a:ext>
            </a:extLst>
          </p:cNvPr>
          <p:cNvSpPr txBox="1"/>
          <p:nvPr/>
        </p:nvSpPr>
        <p:spPr>
          <a:xfrm>
            <a:off x="6839937" y="3309482"/>
            <a:ext cx="952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Width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7D3038-3A1B-897A-E63E-FE937EB76EDE}"/>
              </a:ext>
            </a:extLst>
          </p:cNvPr>
          <p:cNvSpPr txBox="1"/>
          <p:nvPr/>
        </p:nvSpPr>
        <p:spPr>
          <a:xfrm rot="16200000">
            <a:off x="5352353" y="4207852"/>
            <a:ext cx="952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Height</a:t>
            </a:r>
            <a:endParaRPr lang="en-DE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DB12F8-339F-0A2F-A059-A2B7FE19CBA3}"/>
              </a:ext>
            </a:extLst>
          </p:cNvPr>
          <p:cNvCxnSpPr>
            <a:cxnSpLocks/>
          </p:cNvCxnSpPr>
          <p:nvPr/>
        </p:nvCxnSpPr>
        <p:spPr>
          <a:xfrm>
            <a:off x="4989424" y="3309482"/>
            <a:ext cx="685581" cy="8972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EAB8E7D-AEBF-D782-96BA-65ED56E43564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5125196" y="3263110"/>
            <a:ext cx="1714741" cy="2310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9276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9CB90-2983-D90D-9B08-DA0176BAD5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DE" dirty="0"/>
              <a:t>ulti channel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AB93A7-DC94-7B99-F3C4-9A63134E5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3273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6B8B5B3-394A-0739-1F6E-293CFD486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4598" y="2425753"/>
            <a:ext cx="3821793" cy="38217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068737-650B-7467-E42E-563C22BB2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098" y="227292"/>
            <a:ext cx="2070100" cy="2070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7BFCE1-89BA-1244-A1A5-84260D57DC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8098" y="2425753"/>
            <a:ext cx="2070100" cy="2070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1B17D9E-456E-BD02-6FF7-86381C533B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8098" y="4624214"/>
            <a:ext cx="2070100" cy="20701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5ED7E9-99AA-4FF3-6A14-B6C681050230}"/>
              </a:ext>
            </a:extLst>
          </p:cNvPr>
          <p:cNvSpPr txBox="1"/>
          <p:nvPr/>
        </p:nvSpPr>
        <p:spPr>
          <a:xfrm>
            <a:off x="3026521" y="227292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Channel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08F974-950C-5CC5-89ED-B1700459BF42}"/>
              </a:ext>
            </a:extLst>
          </p:cNvPr>
          <p:cNvSpPr txBox="1"/>
          <p:nvPr/>
        </p:nvSpPr>
        <p:spPr>
          <a:xfrm>
            <a:off x="3002978" y="236167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Channel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EECFD9-8D97-1157-0537-39CC3D6E7289}"/>
              </a:ext>
            </a:extLst>
          </p:cNvPr>
          <p:cNvSpPr txBox="1"/>
          <p:nvPr/>
        </p:nvSpPr>
        <p:spPr>
          <a:xfrm>
            <a:off x="3045675" y="4544429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Channel 3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FE36E32E-78BF-01C9-EBF5-739694BEEB57}"/>
              </a:ext>
            </a:extLst>
          </p:cNvPr>
          <p:cNvGrpSpPr/>
          <p:nvPr/>
        </p:nvGrpSpPr>
        <p:grpSpPr>
          <a:xfrm>
            <a:off x="1156176" y="4288811"/>
            <a:ext cx="1357441" cy="532485"/>
            <a:chOff x="177794" y="3163330"/>
            <a:chExt cx="1357441" cy="532485"/>
          </a:xfrm>
          <a:solidFill>
            <a:schemeClr val="bg1"/>
          </a:solidFill>
        </p:grpSpPr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8956CD46-D8E9-B555-1C67-986953B85747}"/>
                </a:ext>
              </a:extLst>
            </p:cNvPr>
            <p:cNvSpPr/>
            <p:nvPr/>
          </p:nvSpPr>
          <p:spPr>
            <a:xfrm>
              <a:off x="344688" y="3163330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7AC007F2-EE15-784E-79BA-897901051689}"/>
                </a:ext>
              </a:extLst>
            </p:cNvPr>
            <p:cNvSpPr/>
            <p:nvPr/>
          </p:nvSpPr>
          <p:spPr>
            <a:xfrm>
              <a:off x="616535" y="3163330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8514D4DB-9E2C-83B6-03B6-A6A0E0CCA10D}"/>
                </a:ext>
              </a:extLst>
            </p:cNvPr>
            <p:cNvSpPr/>
            <p:nvPr/>
          </p:nvSpPr>
          <p:spPr>
            <a:xfrm>
              <a:off x="888382" y="3163330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1D011D6D-8BFA-6853-D1D0-331BCA0B0D8E}"/>
                </a:ext>
              </a:extLst>
            </p:cNvPr>
            <p:cNvSpPr/>
            <p:nvPr/>
          </p:nvSpPr>
          <p:spPr>
            <a:xfrm>
              <a:off x="261435" y="3243649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9A1885DF-817A-86CA-8619-577908811C94}"/>
                </a:ext>
              </a:extLst>
            </p:cNvPr>
            <p:cNvSpPr/>
            <p:nvPr/>
          </p:nvSpPr>
          <p:spPr>
            <a:xfrm>
              <a:off x="533282" y="3243649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4E266336-0979-750E-836C-4A2C72E00D27}"/>
                </a:ext>
              </a:extLst>
            </p:cNvPr>
            <p:cNvSpPr/>
            <p:nvPr/>
          </p:nvSpPr>
          <p:spPr>
            <a:xfrm>
              <a:off x="811616" y="3243649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0DBD2E71-08CE-1F86-333A-0C5451CE84BF}"/>
                </a:ext>
              </a:extLst>
            </p:cNvPr>
            <p:cNvSpPr/>
            <p:nvPr/>
          </p:nvSpPr>
          <p:spPr>
            <a:xfrm>
              <a:off x="177794" y="3323968"/>
              <a:ext cx="370702" cy="370702"/>
            </a:xfrm>
            <a:prstGeom prst="cube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BA217016-6E84-4315-2A79-DBA40387A84C}"/>
                </a:ext>
              </a:extLst>
            </p:cNvPr>
            <p:cNvSpPr/>
            <p:nvPr/>
          </p:nvSpPr>
          <p:spPr>
            <a:xfrm>
              <a:off x="458368" y="3323968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8E0E7E13-A852-0599-3EBA-AC2BEE2E3360}"/>
                </a:ext>
              </a:extLst>
            </p:cNvPr>
            <p:cNvSpPr/>
            <p:nvPr/>
          </p:nvSpPr>
          <p:spPr>
            <a:xfrm>
              <a:off x="737090" y="3323968"/>
              <a:ext cx="370702" cy="370702"/>
            </a:xfrm>
            <a:prstGeom prst="cube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76" name="Cube 75">
              <a:extLst>
                <a:ext uri="{FF2B5EF4-FFF2-40B4-BE49-F238E27FC236}">
                  <a16:creationId xmlns:a16="http://schemas.microsoft.com/office/drawing/2014/main" id="{38F361E2-8E2E-BF19-D57A-A1E6975E1401}"/>
                </a:ext>
              </a:extLst>
            </p:cNvPr>
            <p:cNvSpPr/>
            <p:nvPr/>
          </p:nvSpPr>
          <p:spPr>
            <a:xfrm>
              <a:off x="1164533" y="3164475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7136730D-E6AB-781D-A57B-27DB9A35EF2B}"/>
                </a:ext>
              </a:extLst>
            </p:cNvPr>
            <p:cNvSpPr/>
            <p:nvPr/>
          </p:nvSpPr>
          <p:spPr>
            <a:xfrm>
              <a:off x="1087767" y="3251669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7D9EC64F-34FC-968A-8497-8D65371A26DD}"/>
                </a:ext>
              </a:extLst>
            </p:cNvPr>
            <p:cNvSpPr/>
            <p:nvPr/>
          </p:nvSpPr>
          <p:spPr>
            <a:xfrm>
              <a:off x="1013241" y="3325113"/>
              <a:ext cx="370702" cy="370702"/>
            </a:xfrm>
            <a:prstGeom prst="cub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57E46B0-1486-D2A3-CB05-BDB4686A6F2E}"/>
              </a:ext>
            </a:extLst>
          </p:cNvPr>
          <p:cNvGrpSpPr/>
          <p:nvPr/>
        </p:nvGrpSpPr>
        <p:grpSpPr>
          <a:xfrm>
            <a:off x="1156176" y="3925268"/>
            <a:ext cx="1357441" cy="532485"/>
            <a:chOff x="177794" y="3163330"/>
            <a:chExt cx="1357441" cy="532485"/>
          </a:xfrm>
          <a:solidFill>
            <a:schemeClr val="bg1"/>
          </a:solidFill>
        </p:grpSpPr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EE4300AC-A227-647B-E54F-3049066459C3}"/>
                </a:ext>
              </a:extLst>
            </p:cNvPr>
            <p:cNvSpPr/>
            <p:nvPr/>
          </p:nvSpPr>
          <p:spPr>
            <a:xfrm>
              <a:off x="344688" y="3163330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C25F55A7-978C-351E-7E7A-E0A580DE9C59}"/>
                </a:ext>
              </a:extLst>
            </p:cNvPr>
            <p:cNvSpPr/>
            <p:nvPr/>
          </p:nvSpPr>
          <p:spPr>
            <a:xfrm>
              <a:off x="616535" y="3163330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B2302773-1A8D-6CFF-C3F5-1789B0075DEC}"/>
                </a:ext>
              </a:extLst>
            </p:cNvPr>
            <p:cNvSpPr/>
            <p:nvPr/>
          </p:nvSpPr>
          <p:spPr>
            <a:xfrm>
              <a:off x="888382" y="3163330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396B3DE7-2C31-8105-38C5-5062FBF57BFD}"/>
                </a:ext>
              </a:extLst>
            </p:cNvPr>
            <p:cNvSpPr/>
            <p:nvPr/>
          </p:nvSpPr>
          <p:spPr>
            <a:xfrm>
              <a:off x="261435" y="3243649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A0DFF770-E02B-5B95-AA60-3AB16278B869}"/>
                </a:ext>
              </a:extLst>
            </p:cNvPr>
            <p:cNvSpPr/>
            <p:nvPr/>
          </p:nvSpPr>
          <p:spPr>
            <a:xfrm>
              <a:off x="533282" y="3243649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6D602DCE-3AFD-B0A5-2836-212497D15202}"/>
                </a:ext>
              </a:extLst>
            </p:cNvPr>
            <p:cNvSpPr/>
            <p:nvPr/>
          </p:nvSpPr>
          <p:spPr>
            <a:xfrm>
              <a:off x="811616" y="3243649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61523B44-59B2-D16C-FE5E-500507201638}"/>
                </a:ext>
              </a:extLst>
            </p:cNvPr>
            <p:cNvSpPr/>
            <p:nvPr/>
          </p:nvSpPr>
          <p:spPr>
            <a:xfrm>
              <a:off x="177794" y="3323968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8" name="Cube 87">
              <a:extLst>
                <a:ext uri="{FF2B5EF4-FFF2-40B4-BE49-F238E27FC236}">
                  <a16:creationId xmlns:a16="http://schemas.microsoft.com/office/drawing/2014/main" id="{8EA49145-7E26-B32D-C0E0-144655DEEC4A}"/>
                </a:ext>
              </a:extLst>
            </p:cNvPr>
            <p:cNvSpPr/>
            <p:nvPr/>
          </p:nvSpPr>
          <p:spPr>
            <a:xfrm>
              <a:off x="458368" y="3323968"/>
              <a:ext cx="370702" cy="370702"/>
            </a:xfrm>
            <a:prstGeom prst="cube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89" name="Cube 88">
              <a:extLst>
                <a:ext uri="{FF2B5EF4-FFF2-40B4-BE49-F238E27FC236}">
                  <a16:creationId xmlns:a16="http://schemas.microsoft.com/office/drawing/2014/main" id="{82EEDB3A-107B-5286-987B-EE5A82F33651}"/>
                </a:ext>
              </a:extLst>
            </p:cNvPr>
            <p:cNvSpPr/>
            <p:nvPr/>
          </p:nvSpPr>
          <p:spPr>
            <a:xfrm>
              <a:off x="737090" y="3323968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26E1ACB6-4995-28D3-A4E3-1EEE71DCE92E}"/>
                </a:ext>
              </a:extLst>
            </p:cNvPr>
            <p:cNvSpPr/>
            <p:nvPr/>
          </p:nvSpPr>
          <p:spPr>
            <a:xfrm>
              <a:off x="1164533" y="3164475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1" name="Cube 90">
              <a:extLst>
                <a:ext uri="{FF2B5EF4-FFF2-40B4-BE49-F238E27FC236}">
                  <a16:creationId xmlns:a16="http://schemas.microsoft.com/office/drawing/2014/main" id="{A129323B-97A1-B692-BAD4-30A316D3F933}"/>
                </a:ext>
              </a:extLst>
            </p:cNvPr>
            <p:cNvSpPr/>
            <p:nvPr/>
          </p:nvSpPr>
          <p:spPr>
            <a:xfrm>
              <a:off x="1087767" y="3251669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CD595EF4-C54C-C8C5-7BC9-CA4B93A721E8}"/>
                </a:ext>
              </a:extLst>
            </p:cNvPr>
            <p:cNvSpPr/>
            <p:nvPr/>
          </p:nvSpPr>
          <p:spPr>
            <a:xfrm>
              <a:off x="1013241" y="3325113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6597B01-E101-C814-D0E4-CE46336D6154}"/>
              </a:ext>
            </a:extLst>
          </p:cNvPr>
          <p:cNvGrpSpPr/>
          <p:nvPr/>
        </p:nvGrpSpPr>
        <p:grpSpPr>
          <a:xfrm>
            <a:off x="1157063" y="3564089"/>
            <a:ext cx="1357441" cy="532485"/>
            <a:chOff x="177794" y="3163330"/>
            <a:chExt cx="1357441" cy="532485"/>
          </a:xfrm>
          <a:solidFill>
            <a:schemeClr val="bg1"/>
          </a:solidFill>
        </p:grpSpPr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B2A1AB5D-C4D9-6049-3D53-D69086DB8EC7}"/>
                </a:ext>
              </a:extLst>
            </p:cNvPr>
            <p:cNvSpPr/>
            <p:nvPr/>
          </p:nvSpPr>
          <p:spPr>
            <a:xfrm>
              <a:off x="344688" y="3163330"/>
              <a:ext cx="370702" cy="370702"/>
            </a:xfrm>
            <a:prstGeom prst="cub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AAB27762-8BC6-38A0-F77F-101BC276ED3B}"/>
                </a:ext>
              </a:extLst>
            </p:cNvPr>
            <p:cNvSpPr/>
            <p:nvPr/>
          </p:nvSpPr>
          <p:spPr>
            <a:xfrm>
              <a:off x="616535" y="3163330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0F7FE1D-52DB-C9CB-D8A9-DFA2FF72EEB7}"/>
                </a:ext>
              </a:extLst>
            </p:cNvPr>
            <p:cNvSpPr/>
            <p:nvPr/>
          </p:nvSpPr>
          <p:spPr>
            <a:xfrm>
              <a:off x="888382" y="3163330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C7AE5EC-EF14-5C05-DC63-AF2F903496C8}"/>
                </a:ext>
              </a:extLst>
            </p:cNvPr>
            <p:cNvSpPr/>
            <p:nvPr/>
          </p:nvSpPr>
          <p:spPr>
            <a:xfrm>
              <a:off x="261435" y="3243649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5892BECC-5281-D056-F146-64503E586805}"/>
                </a:ext>
              </a:extLst>
            </p:cNvPr>
            <p:cNvSpPr/>
            <p:nvPr/>
          </p:nvSpPr>
          <p:spPr>
            <a:xfrm>
              <a:off x="533282" y="3243649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B5B064E6-82AF-C7B1-EAD9-026665B7E75A}"/>
                </a:ext>
              </a:extLst>
            </p:cNvPr>
            <p:cNvSpPr/>
            <p:nvPr/>
          </p:nvSpPr>
          <p:spPr>
            <a:xfrm>
              <a:off x="811616" y="3243649"/>
              <a:ext cx="370702" cy="370702"/>
            </a:xfrm>
            <a:prstGeom prst="cube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0" name="Cube 99">
              <a:extLst>
                <a:ext uri="{FF2B5EF4-FFF2-40B4-BE49-F238E27FC236}">
                  <a16:creationId xmlns:a16="http://schemas.microsoft.com/office/drawing/2014/main" id="{3206822C-04E4-783C-AC03-8FF9135CDD96}"/>
                </a:ext>
              </a:extLst>
            </p:cNvPr>
            <p:cNvSpPr/>
            <p:nvPr/>
          </p:nvSpPr>
          <p:spPr>
            <a:xfrm>
              <a:off x="177794" y="3323968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1" name="Cube 100">
              <a:extLst>
                <a:ext uri="{FF2B5EF4-FFF2-40B4-BE49-F238E27FC236}">
                  <a16:creationId xmlns:a16="http://schemas.microsoft.com/office/drawing/2014/main" id="{1BCB1684-9DD7-2562-C7F4-07961C672694}"/>
                </a:ext>
              </a:extLst>
            </p:cNvPr>
            <p:cNvSpPr/>
            <p:nvPr/>
          </p:nvSpPr>
          <p:spPr>
            <a:xfrm>
              <a:off x="458368" y="3323968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2" name="Cube 101">
              <a:extLst>
                <a:ext uri="{FF2B5EF4-FFF2-40B4-BE49-F238E27FC236}">
                  <a16:creationId xmlns:a16="http://schemas.microsoft.com/office/drawing/2014/main" id="{96C72CA5-B304-59C7-0519-4388C5A9D158}"/>
                </a:ext>
              </a:extLst>
            </p:cNvPr>
            <p:cNvSpPr/>
            <p:nvPr/>
          </p:nvSpPr>
          <p:spPr>
            <a:xfrm>
              <a:off x="737090" y="3323968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3" name="Cube 102">
              <a:extLst>
                <a:ext uri="{FF2B5EF4-FFF2-40B4-BE49-F238E27FC236}">
                  <a16:creationId xmlns:a16="http://schemas.microsoft.com/office/drawing/2014/main" id="{57BCCA14-0C71-BDDF-CB89-BE89749A1BD2}"/>
                </a:ext>
              </a:extLst>
            </p:cNvPr>
            <p:cNvSpPr/>
            <p:nvPr/>
          </p:nvSpPr>
          <p:spPr>
            <a:xfrm>
              <a:off x="1164533" y="3164475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4" name="Cube 103">
              <a:extLst>
                <a:ext uri="{FF2B5EF4-FFF2-40B4-BE49-F238E27FC236}">
                  <a16:creationId xmlns:a16="http://schemas.microsoft.com/office/drawing/2014/main" id="{0914B1AC-CB1C-6916-8AE2-5FE5491F9EF9}"/>
                </a:ext>
              </a:extLst>
            </p:cNvPr>
            <p:cNvSpPr/>
            <p:nvPr/>
          </p:nvSpPr>
          <p:spPr>
            <a:xfrm>
              <a:off x="1087767" y="3251669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5" name="Cube 104">
              <a:extLst>
                <a:ext uri="{FF2B5EF4-FFF2-40B4-BE49-F238E27FC236}">
                  <a16:creationId xmlns:a16="http://schemas.microsoft.com/office/drawing/2014/main" id="{027AD566-80D6-A859-72D0-E54EC7E8E767}"/>
                </a:ext>
              </a:extLst>
            </p:cNvPr>
            <p:cNvSpPr/>
            <p:nvPr/>
          </p:nvSpPr>
          <p:spPr>
            <a:xfrm>
              <a:off x="1013241" y="3325113"/>
              <a:ext cx="370702" cy="370702"/>
            </a:xfrm>
            <a:prstGeom prst="cube">
              <a:avLst/>
            </a:prstGeom>
            <a:grpFill/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0EC6309-037F-72D3-16F0-8393FFFE47D7}"/>
              </a:ext>
            </a:extLst>
          </p:cNvPr>
          <p:cNvGrpSpPr/>
          <p:nvPr/>
        </p:nvGrpSpPr>
        <p:grpSpPr>
          <a:xfrm>
            <a:off x="1175929" y="1356626"/>
            <a:ext cx="1125253" cy="870582"/>
            <a:chOff x="288758" y="1473802"/>
            <a:chExt cx="968826" cy="749558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2D35C9C-C015-8075-E659-A9BEB96DEAB7}"/>
                </a:ext>
              </a:extLst>
            </p:cNvPr>
            <p:cNvSpPr/>
            <p:nvPr/>
          </p:nvSpPr>
          <p:spPr>
            <a:xfrm>
              <a:off x="288758" y="1473802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4EB93BD-65A5-074F-B644-FF1F10F30C79}"/>
                </a:ext>
              </a:extLst>
            </p:cNvPr>
            <p:cNvSpPr/>
            <p:nvPr/>
          </p:nvSpPr>
          <p:spPr>
            <a:xfrm>
              <a:off x="531611" y="1473802"/>
              <a:ext cx="241560" cy="2475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7A43E1F3-7AA6-0FBD-BDFB-B974DD89C92A}"/>
                </a:ext>
              </a:extLst>
            </p:cNvPr>
            <p:cNvSpPr/>
            <p:nvPr/>
          </p:nvSpPr>
          <p:spPr>
            <a:xfrm>
              <a:off x="774464" y="1473802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843B0407-E657-E8C1-11B3-F849F13FE670}"/>
                </a:ext>
              </a:extLst>
            </p:cNvPr>
            <p:cNvSpPr/>
            <p:nvPr/>
          </p:nvSpPr>
          <p:spPr>
            <a:xfrm>
              <a:off x="1016024" y="1473802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8FFABF46-4831-079A-068B-E9D11ED88C6D}"/>
                </a:ext>
              </a:extLst>
            </p:cNvPr>
            <p:cNvSpPr/>
            <p:nvPr/>
          </p:nvSpPr>
          <p:spPr>
            <a:xfrm>
              <a:off x="288758" y="1728346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4439A069-1EEC-7D64-1E00-E70C1AFF2837}"/>
                </a:ext>
              </a:extLst>
            </p:cNvPr>
            <p:cNvSpPr/>
            <p:nvPr/>
          </p:nvSpPr>
          <p:spPr>
            <a:xfrm>
              <a:off x="531611" y="1728346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DCA09095-1852-ACAC-A948-9F7EC5F384CD}"/>
                </a:ext>
              </a:extLst>
            </p:cNvPr>
            <p:cNvSpPr/>
            <p:nvPr/>
          </p:nvSpPr>
          <p:spPr>
            <a:xfrm>
              <a:off x="774464" y="1728346"/>
              <a:ext cx="241560" cy="247507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4B280FD6-BF40-05D9-4502-CA3A6904C205}"/>
                </a:ext>
              </a:extLst>
            </p:cNvPr>
            <p:cNvSpPr/>
            <p:nvPr/>
          </p:nvSpPr>
          <p:spPr>
            <a:xfrm>
              <a:off x="1016024" y="1728346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385AF1A6-AED9-2C60-BC7A-ED533744FB29}"/>
                </a:ext>
              </a:extLst>
            </p:cNvPr>
            <p:cNvSpPr/>
            <p:nvPr/>
          </p:nvSpPr>
          <p:spPr>
            <a:xfrm>
              <a:off x="288758" y="1975853"/>
              <a:ext cx="241560" cy="2475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5AC770B1-AE36-CD34-C13F-4F5BC339E74A}"/>
                </a:ext>
              </a:extLst>
            </p:cNvPr>
            <p:cNvSpPr/>
            <p:nvPr/>
          </p:nvSpPr>
          <p:spPr>
            <a:xfrm>
              <a:off x="531611" y="1975853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11AA053-4387-5BD5-6A8F-09545C419482}"/>
                </a:ext>
              </a:extLst>
            </p:cNvPr>
            <p:cNvSpPr/>
            <p:nvPr/>
          </p:nvSpPr>
          <p:spPr>
            <a:xfrm>
              <a:off x="774464" y="1975853"/>
              <a:ext cx="241560" cy="24750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0C733731-F9A9-882D-6D2F-65442355F2E2}"/>
                </a:ext>
              </a:extLst>
            </p:cNvPr>
            <p:cNvSpPr/>
            <p:nvPr/>
          </p:nvSpPr>
          <p:spPr>
            <a:xfrm>
              <a:off x="1016024" y="1975853"/>
              <a:ext cx="241560" cy="247507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307CDD47-CAE6-3F7E-D0B4-1D444C4CDDDF}"/>
              </a:ext>
            </a:extLst>
          </p:cNvPr>
          <p:cNvSpPr txBox="1"/>
          <p:nvPr/>
        </p:nvSpPr>
        <p:spPr>
          <a:xfrm>
            <a:off x="1084544" y="3032455"/>
            <a:ext cx="1523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2D + Channels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64843B2C-A281-D176-CC92-0A52C6D4C903}"/>
              </a:ext>
            </a:extLst>
          </p:cNvPr>
          <p:cNvCxnSpPr/>
          <p:nvPr/>
        </p:nvCxnSpPr>
        <p:spPr>
          <a:xfrm>
            <a:off x="1152400" y="2338982"/>
            <a:ext cx="1095324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AD179542-B81B-E3E4-BF32-C11B670187A7}"/>
              </a:ext>
            </a:extLst>
          </p:cNvPr>
          <p:cNvCxnSpPr>
            <a:cxnSpLocks/>
          </p:cNvCxnSpPr>
          <p:nvPr/>
        </p:nvCxnSpPr>
        <p:spPr>
          <a:xfrm flipV="1">
            <a:off x="2429067" y="1325584"/>
            <a:ext cx="0" cy="94084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D9F0A4A8-20FA-6BEA-A5BC-8FDFD76D2782}"/>
              </a:ext>
            </a:extLst>
          </p:cNvPr>
          <p:cNvSpPr txBox="1"/>
          <p:nvPr/>
        </p:nvSpPr>
        <p:spPr>
          <a:xfrm>
            <a:off x="1607466" y="2405587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X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A9BE715-4007-D9DF-B935-D16AA8B45DBB}"/>
              </a:ext>
            </a:extLst>
          </p:cNvPr>
          <p:cNvSpPr txBox="1"/>
          <p:nvPr/>
        </p:nvSpPr>
        <p:spPr>
          <a:xfrm>
            <a:off x="2452578" y="1542401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Y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D128C97A-015C-1170-AA1E-EE94760CA562}"/>
              </a:ext>
            </a:extLst>
          </p:cNvPr>
          <p:cNvCxnSpPr>
            <a:cxnSpLocks/>
          </p:cNvCxnSpPr>
          <p:nvPr/>
        </p:nvCxnSpPr>
        <p:spPr>
          <a:xfrm>
            <a:off x="1136441" y="4933214"/>
            <a:ext cx="1095324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D8956D2-8459-C291-B02C-75BAFFA1CE26}"/>
              </a:ext>
            </a:extLst>
          </p:cNvPr>
          <p:cNvSpPr txBox="1"/>
          <p:nvPr/>
        </p:nvSpPr>
        <p:spPr>
          <a:xfrm>
            <a:off x="1622101" y="4914779"/>
            <a:ext cx="304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X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C32F9E5-8B26-E6B4-29D9-5CDCB135B60D}"/>
              </a:ext>
            </a:extLst>
          </p:cNvPr>
          <p:cNvCxnSpPr>
            <a:cxnSpLocks/>
          </p:cNvCxnSpPr>
          <p:nvPr/>
        </p:nvCxnSpPr>
        <p:spPr>
          <a:xfrm flipV="1">
            <a:off x="2337602" y="4550327"/>
            <a:ext cx="316681" cy="342562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B13CBA9D-6768-8FA1-EDE0-47F63CF46403}"/>
              </a:ext>
            </a:extLst>
          </p:cNvPr>
          <p:cNvSpPr txBox="1"/>
          <p:nvPr/>
        </p:nvSpPr>
        <p:spPr>
          <a:xfrm>
            <a:off x="2475627" y="4618245"/>
            <a:ext cx="304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95AA082B-03EE-70F0-5962-872F5B886040}"/>
              </a:ext>
            </a:extLst>
          </p:cNvPr>
          <p:cNvCxnSpPr>
            <a:cxnSpLocks/>
          </p:cNvCxnSpPr>
          <p:nvPr/>
        </p:nvCxnSpPr>
        <p:spPr>
          <a:xfrm flipV="1">
            <a:off x="1084544" y="3879311"/>
            <a:ext cx="0" cy="94084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6B383FE0-1DA2-0E22-9BFC-C80F191DB36E}"/>
              </a:ext>
            </a:extLst>
          </p:cNvPr>
          <p:cNvSpPr txBox="1"/>
          <p:nvPr/>
        </p:nvSpPr>
        <p:spPr>
          <a:xfrm>
            <a:off x="822266" y="4165065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C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AE7B45C-5B8D-D486-676D-7B5673B444B9}"/>
              </a:ext>
            </a:extLst>
          </p:cNvPr>
          <p:cNvSpPr txBox="1"/>
          <p:nvPr/>
        </p:nvSpPr>
        <p:spPr>
          <a:xfrm>
            <a:off x="8724425" y="1446040"/>
            <a:ext cx="263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Merged/Composite image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061444F0-50F1-13D0-3C10-8A8D9E61C402}"/>
              </a:ext>
            </a:extLst>
          </p:cNvPr>
          <p:cNvSpPr txBox="1"/>
          <p:nvPr/>
        </p:nvSpPr>
        <p:spPr>
          <a:xfrm>
            <a:off x="822266" y="5325514"/>
            <a:ext cx="2038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Array shape (X, Y, C)</a:t>
            </a:r>
          </a:p>
        </p:txBody>
      </p: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ED0DD8E-4BE4-FDE9-F10D-676B57F2F497}"/>
              </a:ext>
            </a:extLst>
          </p:cNvPr>
          <p:cNvGrpSpPr/>
          <p:nvPr/>
        </p:nvGrpSpPr>
        <p:grpSpPr>
          <a:xfrm>
            <a:off x="6780423" y="547318"/>
            <a:ext cx="1697766" cy="1906085"/>
            <a:chOff x="7484753" y="4545598"/>
            <a:chExt cx="1697766" cy="1906085"/>
          </a:xfrm>
        </p:grpSpPr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E19B6BF0-A657-8E45-4109-CC6043FF70AA}"/>
                </a:ext>
              </a:extLst>
            </p:cNvPr>
            <p:cNvGrpSpPr/>
            <p:nvPr/>
          </p:nvGrpSpPr>
          <p:grpSpPr>
            <a:xfrm>
              <a:off x="7824191" y="5461874"/>
              <a:ext cx="1357441" cy="532485"/>
              <a:chOff x="177794" y="3163330"/>
              <a:chExt cx="1357441" cy="532485"/>
            </a:xfrm>
            <a:solidFill>
              <a:srgbClr val="00F3F0"/>
            </a:solidFill>
          </p:grpSpPr>
          <p:sp>
            <p:nvSpPr>
              <p:cNvPr id="238" name="Cube 237">
                <a:extLst>
                  <a:ext uri="{FF2B5EF4-FFF2-40B4-BE49-F238E27FC236}">
                    <a16:creationId xmlns:a16="http://schemas.microsoft.com/office/drawing/2014/main" id="{3B98B188-E272-322E-F7C2-014FE34350A8}"/>
                  </a:ext>
                </a:extLst>
              </p:cNvPr>
              <p:cNvSpPr/>
              <p:nvPr/>
            </p:nvSpPr>
            <p:spPr>
              <a:xfrm>
                <a:off x="344688" y="3163330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39" name="Cube 238">
                <a:extLst>
                  <a:ext uri="{FF2B5EF4-FFF2-40B4-BE49-F238E27FC236}">
                    <a16:creationId xmlns:a16="http://schemas.microsoft.com/office/drawing/2014/main" id="{82209A2D-F216-9DEB-ED47-985AC26F2313}"/>
                  </a:ext>
                </a:extLst>
              </p:cNvPr>
              <p:cNvSpPr/>
              <p:nvPr/>
            </p:nvSpPr>
            <p:spPr>
              <a:xfrm>
                <a:off x="616535" y="3163330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0" name="Cube 239">
                <a:extLst>
                  <a:ext uri="{FF2B5EF4-FFF2-40B4-BE49-F238E27FC236}">
                    <a16:creationId xmlns:a16="http://schemas.microsoft.com/office/drawing/2014/main" id="{3D1732B0-11CD-0A2F-C366-957F382C7BD7}"/>
                  </a:ext>
                </a:extLst>
              </p:cNvPr>
              <p:cNvSpPr/>
              <p:nvPr/>
            </p:nvSpPr>
            <p:spPr>
              <a:xfrm>
                <a:off x="888382" y="3163330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1" name="Cube 240">
                <a:extLst>
                  <a:ext uri="{FF2B5EF4-FFF2-40B4-BE49-F238E27FC236}">
                    <a16:creationId xmlns:a16="http://schemas.microsoft.com/office/drawing/2014/main" id="{8821E0B8-3487-06ED-0601-DA7BE01B997F}"/>
                  </a:ext>
                </a:extLst>
              </p:cNvPr>
              <p:cNvSpPr/>
              <p:nvPr/>
            </p:nvSpPr>
            <p:spPr>
              <a:xfrm>
                <a:off x="261435" y="3243649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2" name="Cube 241">
                <a:extLst>
                  <a:ext uri="{FF2B5EF4-FFF2-40B4-BE49-F238E27FC236}">
                    <a16:creationId xmlns:a16="http://schemas.microsoft.com/office/drawing/2014/main" id="{A50AF0AA-D563-EB4E-4D1C-4F10F8E35DBC}"/>
                  </a:ext>
                </a:extLst>
              </p:cNvPr>
              <p:cNvSpPr/>
              <p:nvPr/>
            </p:nvSpPr>
            <p:spPr>
              <a:xfrm>
                <a:off x="533282" y="3243649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3" name="Cube 242">
                <a:extLst>
                  <a:ext uri="{FF2B5EF4-FFF2-40B4-BE49-F238E27FC236}">
                    <a16:creationId xmlns:a16="http://schemas.microsoft.com/office/drawing/2014/main" id="{1E14C2DC-7B8C-89B6-72FC-BAE4E9734968}"/>
                  </a:ext>
                </a:extLst>
              </p:cNvPr>
              <p:cNvSpPr/>
              <p:nvPr/>
            </p:nvSpPr>
            <p:spPr>
              <a:xfrm>
                <a:off x="811616" y="3243649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4" name="Cube 243">
                <a:extLst>
                  <a:ext uri="{FF2B5EF4-FFF2-40B4-BE49-F238E27FC236}">
                    <a16:creationId xmlns:a16="http://schemas.microsoft.com/office/drawing/2014/main" id="{A1E97B22-193D-E3B7-3CD0-5BAA41AF6EAE}"/>
                  </a:ext>
                </a:extLst>
              </p:cNvPr>
              <p:cNvSpPr/>
              <p:nvPr/>
            </p:nvSpPr>
            <p:spPr>
              <a:xfrm>
                <a:off x="177794" y="3323968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5" name="Cube 244">
                <a:extLst>
                  <a:ext uri="{FF2B5EF4-FFF2-40B4-BE49-F238E27FC236}">
                    <a16:creationId xmlns:a16="http://schemas.microsoft.com/office/drawing/2014/main" id="{9867FB8E-6FEB-D7FD-1ACC-DC7E3792E572}"/>
                  </a:ext>
                </a:extLst>
              </p:cNvPr>
              <p:cNvSpPr/>
              <p:nvPr/>
            </p:nvSpPr>
            <p:spPr>
              <a:xfrm>
                <a:off x="458368" y="3323968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6" name="Cube 245">
                <a:extLst>
                  <a:ext uri="{FF2B5EF4-FFF2-40B4-BE49-F238E27FC236}">
                    <a16:creationId xmlns:a16="http://schemas.microsoft.com/office/drawing/2014/main" id="{883E4FFF-EFE6-8F09-F85D-0414476E71B1}"/>
                  </a:ext>
                </a:extLst>
              </p:cNvPr>
              <p:cNvSpPr/>
              <p:nvPr/>
            </p:nvSpPr>
            <p:spPr>
              <a:xfrm>
                <a:off x="737090" y="3323968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7" name="Cube 246">
                <a:extLst>
                  <a:ext uri="{FF2B5EF4-FFF2-40B4-BE49-F238E27FC236}">
                    <a16:creationId xmlns:a16="http://schemas.microsoft.com/office/drawing/2014/main" id="{3DA69C0A-F4BE-04FA-D000-B78620C600C0}"/>
                  </a:ext>
                </a:extLst>
              </p:cNvPr>
              <p:cNvSpPr/>
              <p:nvPr/>
            </p:nvSpPr>
            <p:spPr>
              <a:xfrm>
                <a:off x="1164533" y="3164475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8" name="Cube 247">
                <a:extLst>
                  <a:ext uri="{FF2B5EF4-FFF2-40B4-BE49-F238E27FC236}">
                    <a16:creationId xmlns:a16="http://schemas.microsoft.com/office/drawing/2014/main" id="{54A62FE5-4F64-B42E-B1AF-22F1C89B859C}"/>
                  </a:ext>
                </a:extLst>
              </p:cNvPr>
              <p:cNvSpPr/>
              <p:nvPr/>
            </p:nvSpPr>
            <p:spPr>
              <a:xfrm>
                <a:off x="1087767" y="3251669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49" name="Cube 248">
                <a:extLst>
                  <a:ext uri="{FF2B5EF4-FFF2-40B4-BE49-F238E27FC236}">
                    <a16:creationId xmlns:a16="http://schemas.microsoft.com/office/drawing/2014/main" id="{89106EEE-E186-2572-B151-9EF23A7ECB0C}"/>
                  </a:ext>
                </a:extLst>
              </p:cNvPr>
              <p:cNvSpPr/>
              <p:nvPr/>
            </p:nvSpPr>
            <p:spPr>
              <a:xfrm>
                <a:off x="1013241" y="3325113"/>
                <a:ext cx="370702" cy="370702"/>
              </a:xfrm>
              <a:prstGeom prst="cub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</p:grp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2F86B98E-4E02-E4F0-5F1E-6543E20D8699}"/>
                </a:ext>
              </a:extLst>
            </p:cNvPr>
            <p:cNvGrpSpPr/>
            <p:nvPr/>
          </p:nvGrpSpPr>
          <p:grpSpPr>
            <a:xfrm>
              <a:off x="7824191" y="5098331"/>
              <a:ext cx="1357441" cy="532485"/>
              <a:chOff x="177794" y="3163330"/>
              <a:chExt cx="1357441" cy="532485"/>
            </a:xfrm>
            <a:solidFill>
              <a:srgbClr val="FF00FF"/>
            </a:solidFill>
          </p:grpSpPr>
          <p:sp>
            <p:nvSpPr>
              <p:cNvPr id="251" name="Cube 250">
                <a:extLst>
                  <a:ext uri="{FF2B5EF4-FFF2-40B4-BE49-F238E27FC236}">
                    <a16:creationId xmlns:a16="http://schemas.microsoft.com/office/drawing/2014/main" id="{B3E8B8A3-C090-360F-8767-E06F36583F3C}"/>
                  </a:ext>
                </a:extLst>
              </p:cNvPr>
              <p:cNvSpPr/>
              <p:nvPr/>
            </p:nvSpPr>
            <p:spPr>
              <a:xfrm>
                <a:off x="344688" y="3163330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2" name="Cube 251">
                <a:extLst>
                  <a:ext uri="{FF2B5EF4-FFF2-40B4-BE49-F238E27FC236}">
                    <a16:creationId xmlns:a16="http://schemas.microsoft.com/office/drawing/2014/main" id="{7B853F4C-389E-F738-7C94-918C852F0759}"/>
                  </a:ext>
                </a:extLst>
              </p:cNvPr>
              <p:cNvSpPr/>
              <p:nvPr/>
            </p:nvSpPr>
            <p:spPr>
              <a:xfrm>
                <a:off x="616535" y="3163330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3" name="Cube 252">
                <a:extLst>
                  <a:ext uri="{FF2B5EF4-FFF2-40B4-BE49-F238E27FC236}">
                    <a16:creationId xmlns:a16="http://schemas.microsoft.com/office/drawing/2014/main" id="{6A17760F-AEF3-892B-0936-EC1B513B47A5}"/>
                  </a:ext>
                </a:extLst>
              </p:cNvPr>
              <p:cNvSpPr/>
              <p:nvPr/>
            </p:nvSpPr>
            <p:spPr>
              <a:xfrm>
                <a:off x="888382" y="3163330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4" name="Cube 253">
                <a:extLst>
                  <a:ext uri="{FF2B5EF4-FFF2-40B4-BE49-F238E27FC236}">
                    <a16:creationId xmlns:a16="http://schemas.microsoft.com/office/drawing/2014/main" id="{12AB3D69-2D4D-35FA-2E55-C5677A3797C0}"/>
                  </a:ext>
                </a:extLst>
              </p:cNvPr>
              <p:cNvSpPr/>
              <p:nvPr/>
            </p:nvSpPr>
            <p:spPr>
              <a:xfrm>
                <a:off x="261435" y="324364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5" name="Cube 254">
                <a:extLst>
                  <a:ext uri="{FF2B5EF4-FFF2-40B4-BE49-F238E27FC236}">
                    <a16:creationId xmlns:a16="http://schemas.microsoft.com/office/drawing/2014/main" id="{206F1A56-4079-91C1-EBF7-2C3E94570070}"/>
                  </a:ext>
                </a:extLst>
              </p:cNvPr>
              <p:cNvSpPr/>
              <p:nvPr/>
            </p:nvSpPr>
            <p:spPr>
              <a:xfrm>
                <a:off x="533282" y="324364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6" name="Cube 255">
                <a:extLst>
                  <a:ext uri="{FF2B5EF4-FFF2-40B4-BE49-F238E27FC236}">
                    <a16:creationId xmlns:a16="http://schemas.microsoft.com/office/drawing/2014/main" id="{4F48A1DF-405D-017B-2F5C-79AD5964BBA8}"/>
                  </a:ext>
                </a:extLst>
              </p:cNvPr>
              <p:cNvSpPr/>
              <p:nvPr/>
            </p:nvSpPr>
            <p:spPr>
              <a:xfrm>
                <a:off x="811616" y="324364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7" name="Cube 256">
                <a:extLst>
                  <a:ext uri="{FF2B5EF4-FFF2-40B4-BE49-F238E27FC236}">
                    <a16:creationId xmlns:a16="http://schemas.microsoft.com/office/drawing/2014/main" id="{EAC04822-8ADF-4386-5547-0F4676065CFE}"/>
                  </a:ext>
                </a:extLst>
              </p:cNvPr>
              <p:cNvSpPr/>
              <p:nvPr/>
            </p:nvSpPr>
            <p:spPr>
              <a:xfrm>
                <a:off x="177794" y="3323968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8" name="Cube 257">
                <a:extLst>
                  <a:ext uri="{FF2B5EF4-FFF2-40B4-BE49-F238E27FC236}">
                    <a16:creationId xmlns:a16="http://schemas.microsoft.com/office/drawing/2014/main" id="{7E29390A-B101-FCFE-ACD9-D4823F16AFBC}"/>
                  </a:ext>
                </a:extLst>
              </p:cNvPr>
              <p:cNvSpPr/>
              <p:nvPr/>
            </p:nvSpPr>
            <p:spPr>
              <a:xfrm>
                <a:off x="458368" y="3323968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59" name="Cube 258">
                <a:extLst>
                  <a:ext uri="{FF2B5EF4-FFF2-40B4-BE49-F238E27FC236}">
                    <a16:creationId xmlns:a16="http://schemas.microsoft.com/office/drawing/2014/main" id="{0D4B48D6-2DF7-AF2B-B569-FF9BB92CCB27}"/>
                  </a:ext>
                </a:extLst>
              </p:cNvPr>
              <p:cNvSpPr/>
              <p:nvPr/>
            </p:nvSpPr>
            <p:spPr>
              <a:xfrm>
                <a:off x="737090" y="3323968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0" name="Cube 259">
                <a:extLst>
                  <a:ext uri="{FF2B5EF4-FFF2-40B4-BE49-F238E27FC236}">
                    <a16:creationId xmlns:a16="http://schemas.microsoft.com/office/drawing/2014/main" id="{6DAB9112-490F-3EC1-E0F1-4D57F9236652}"/>
                  </a:ext>
                </a:extLst>
              </p:cNvPr>
              <p:cNvSpPr/>
              <p:nvPr/>
            </p:nvSpPr>
            <p:spPr>
              <a:xfrm>
                <a:off x="1164533" y="3164475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1" name="Cube 260">
                <a:extLst>
                  <a:ext uri="{FF2B5EF4-FFF2-40B4-BE49-F238E27FC236}">
                    <a16:creationId xmlns:a16="http://schemas.microsoft.com/office/drawing/2014/main" id="{EE689643-1205-4A30-CA26-2FFFE62F22FA}"/>
                  </a:ext>
                </a:extLst>
              </p:cNvPr>
              <p:cNvSpPr/>
              <p:nvPr/>
            </p:nvSpPr>
            <p:spPr>
              <a:xfrm>
                <a:off x="1087767" y="325166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2" name="Cube 261">
                <a:extLst>
                  <a:ext uri="{FF2B5EF4-FFF2-40B4-BE49-F238E27FC236}">
                    <a16:creationId xmlns:a16="http://schemas.microsoft.com/office/drawing/2014/main" id="{3CF6AC98-E7BB-9B3D-3940-A38209173E76}"/>
                  </a:ext>
                </a:extLst>
              </p:cNvPr>
              <p:cNvSpPr/>
              <p:nvPr/>
            </p:nvSpPr>
            <p:spPr>
              <a:xfrm>
                <a:off x="1013241" y="3325113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</p:grpSp>
        <p:grpSp>
          <p:nvGrpSpPr>
            <p:cNvPr id="263" name="Group 262">
              <a:extLst>
                <a:ext uri="{FF2B5EF4-FFF2-40B4-BE49-F238E27FC236}">
                  <a16:creationId xmlns:a16="http://schemas.microsoft.com/office/drawing/2014/main" id="{40494867-B54E-8BCD-8B2E-9697B21E419D}"/>
                </a:ext>
              </a:extLst>
            </p:cNvPr>
            <p:cNvGrpSpPr/>
            <p:nvPr/>
          </p:nvGrpSpPr>
          <p:grpSpPr>
            <a:xfrm>
              <a:off x="7825078" y="4737152"/>
              <a:ext cx="1357441" cy="532485"/>
              <a:chOff x="177794" y="3163330"/>
              <a:chExt cx="1357441" cy="532485"/>
            </a:xfrm>
            <a:solidFill>
              <a:srgbClr val="FFFF00"/>
            </a:solidFill>
          </p:grpSpPr>
          <p:sp>
            <p:nvSpPr>
              <p:cNvPr id="264" name="Cube 263">
                <a:extLst>
                  <a:ext uri="{FF2B5EF4-FFF2-40B4-BE49-F238E27FC236}">
                    <a16:creationId xmlns:a16="http://schemas.microsoft.com/office/drawing/2014/main" id="{F35EC3C7-219C-6374-6AC6-8498F7A22DF2}"/>
                  </a:ext>
                </a:extLst>
              </p:cNvPr>
              <p:cNvSpPr/>
              <p:nvPr/>
            </p:nvSpPr>
            <p:spPr>
              <a:xfrm>
                <a:off x="344688" y="3163330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5" name="Cube 264">
                <a:extLst>
                  <a:ext uri="{FF2B5EF4-FFF2-40B4-BE49-F238E27FC236}">
                    <a16:creationId xmlns:a16="http://schemas.microsoft.com/office/drawing/2014/main" id="{F9658BEC-CA8C-280B-B94B-93BF5A606BBF}"/>
                  </a:ext>
                </a:extLst>
              </p:cNvPr>
              <p:cNvSpPr/>
              <p:nvPr/>
            </p:nvSpPr>
            <p:spPr>
              <a:xfrm>
                <a:off x="616535" y="3163330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6" name="Cube 265">
                <a:extLst>
                  <a:ext uri="{FF2B5EF4-FFF2-40B4-BE49-F238E27FC236}">
                    <a16:creationId xmlns:a16="http://schemas.microsoft.com/office/drawing/2014/main" id="{36AF560D-C19C-AA13-C56A-763ED1DB257D}"/>
                  </a:ext>
                </a:extLst>
              </p:cNvPr>
              <p:cNvSpPr/>
              <p:nvPr/>
            </p:nvSpPr>
            <p:spPr>
              <a:xfrm>
                <a:off x="888382" y="3163330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7" name="Cube 266">
                <a:extLst>
                  <a:ext uri="{FF2B5EF4-FFF2-40B4-BE49-F238E27FC236}">
                    <a16:creationId xmlns:a16="http://schemas.microsoft.com/office/drawing/2014/main" id="{87D3DC06-CE4B-E125-8350-A8D7DD070354}"/>
                  </a:ext>
                </a:extLst>
              </p:cNvPr>
              <p:cNvSpPr/>
              <p:nvPr/>
            </p:nvSpPr>
            <p:spPr>
              <a:xfrm>
                <a:off x="261435" y="324364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8" name="Cube 267">
                <a:extLst>
                  <a:ext uri="{FF2B5EF4-FFF2-40B4-BE49-F238E27FC236}">
                    <a16:creationId xmlns:a16="http://schemas.microsoft.com/office/drawing/2014/main" id="{96FBDD2C-63B2-FA22-2C7E-AEB189817E5B}"/>
                  </a:ext>
                </a:extLst>
              </p:cNvPr>
              <p:cNvSpPr/>
              <p:nvPr/>
            </p:nvSpPr>
            <p:spPr>
              <a:xfrm>
                <a:off x="533282" y="324364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69" name="Cube 268">
                <a:extLst>
                  <a:ext uri="{FF2B5EF4-FFF2-40B4-BE49-F238E27FC236}">
                    <a16:creationId xmlns:a16="http://schemas.microsoft.com/office/drawing/2014/main" id="{5CD4DB09-654D-FBC4-07AA-3B5F4C691CB7}"/>
                  </a:ext>
                </a:extLst>
              </p:cNvPr>
              <p:cNvSpPr/>
              <p:nvPr/>
            </p:nvSpPr>
            <p:spPr>
              <a:xfrm>
                <a:off x="811616" y="324364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70" name="Cube 269">
                <a:extLst>
                  <a:ext uri="{FF2B5EF4-FFF2-40B4-BE49-F238E27FC236}">
                    <a16:creationId xmlns:a16="http://schemas.microsoft.com/office/drawing/2014/main" id="{A7025712-DD97-D100-540C-AD36857D43AD}"/>
                  </a:ext>
                </a:extLst>
              </p:cNvPr>
              <p:cNvSpPr/>
              <p:nvPr/>
            </p:nvSpPr>
            <p:spPr>
              <a:xfrm>
                <a:off x="177794" y="3323968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71" name="Cube 270">
                <a:extLst>
                  <a:ext uri="{FF2B5EF4-FFF2-40B4-BE49-F238E27FC236}">
                    <a16:creationId xmlns:a16="http://schemas.microsoft.com/office/drawing/2014/main" id="{68B2B86E-10D7-79B3-98C0-EA19940903C5}"/>
                  </a:ext>
                </a:extLst>
              </p:cNvPr>
              <p:cNvSpPr/>
              <p:nvPr/>
            </p:nvSpPr>
            <p:spPr>
              <a:xfrm>
                <a:off x="458368" y="3323968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72" name="Cube 271">
                <a:extLst>
                  <a:ext uri="{FF2B5EF4-FFF2-40B4-BE49-F238E27FC236}">
                    <a16:creationId xmlns:a16="http://schemas.microsoft.com/office/drawing/2014/main" id="{09AA5B9C-612A-8F14-2747-D5DEA245B9E6}"/>
                  </a:ext>
                </a:extLst>
              </p:cNvPr>
              <p:cNvSpPr/>
              <p:nvPr/>
            </p:nvSpPr>
            <p:spPr>
              <a:xfrm>
                <a:off x="737090" y="3323968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73" name="Cube 272">
                <a:extLst>
                  <a:ext uri="{FF2B5EF4-FFF2-40B4-BE49-F238E27FC236}">
                    <a16:creationId xmlns:a16="http://schemas.microsoft.com/office/drawing/2014/main" id="{DD378668-E275-8F7C-14B4-D43EC1DC0F3B}"/>
                  </a:ext>
                </a:extLst>
              </p:cNvPr>
              <p:cNvSpPr/>
              <p:nvPr/>
            </p:nvSpPr>
            <p:spPr>
              <a:xfrm>
                <a:off x="1164533" y="3164475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74" name="Cube 273">
                <a:extLst>
                  <a:ext uri="{FF2B5EF4-FFF2-40B4-BE49-F238E27FC236}">
                    <a16:creationId xmlns:a16="http://schemas.microsoft.com/office/drawing/2014/main" id="{85495FC5-5C48-2765-39EF-E346929241DB}"/>
                  </a:ext>
                </a:extLst>
              </p:cNvPr>
              <p:cNvSpPr/>
              <p:nvPr/>
            </p:nvSpPr>
            <p:spPr>
              <a:xfrm>
                <a:off x="1087767" y="3251669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  <p:sp>
            <p:nvSpPr>
              <p:cNvPr id="275" name="Cube 274">
                <a:extLst>
                  <a:ext uri="{FF2B5EF4-FFF2-40B4-BE49-F238E27FC236}">
                    <a16:creationId xmlns:a16="http://schemas.microsoft.com/office/drawing/2014/main" id="{8D26E3F9-D1F1-CECF-A223-46A42B773515}"/>
                  </a:ext>
                </a:extLst>
              </p:cNvPr>
              <p:cNvSpPr/>
              <p:nvPr/>
            </p:nvSpPr>
            <p:spPr>
              <a:xfrm>
                <a:off x="1013241" y="3325113"/>
                <a:ext cx="370702" cy="370702"/>
              </a:xfrm>
              <a:prstGeom prst="cube">
                <a:avLst/>
              </a:prstGeom>
              <a:grpFill/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E"/>
              </a:p>
            </p:txBody>
          </p:sp>
        </p:grp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ADDC9FB5-513D-CC3B-5725-072483F00B86}"/>
                </a:ext>
              </a:extLst>
            </p:cNvPr>
            <p:cNvGrpSpPr/>
            <p:nvPr/>
          </p:nvGrpSpPr>
          <p:grpSpPr>
            <a:xfrm>
              <a:off x="7484753" y="4545598"/>
              <a:ext cx="1409499" cy="1906085"/>
              <a:chOff x="840196" y="3664896"/>
              <a:chExt cx="1409499" cy="1906085"/>
            </a:xfrm>
          </p:grpSpPr>
          <p:cxnSp>
            <p:nvCxnSpPr>
              <p:cNvPr id="278" name="Straight Arrow Connector 277">
                <a:extLst>
                  <a:ext uri="{FF2B5EF4-FFF2-40B4-BE49-F238E27FC236}">
                    <a16:creationId xmlns:a16="http://schemas.microsoft.com/office/drawing/2014/main" id="{42356330-65C4-9822-E5D9-55DFDEEB8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4371" y="5220084"/>
                <a:ext cx="109532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D53B3E84-8367-2FD5-3F76-8B75145007B4}"/>
                  </a:ext>
                </a:extLst>
              </p:cNvPr>
              <p:cNvSpPr txBox="1"/>
              <p:nvPr/>
            </p:nvSpPr>
            <p:spPr>
              <a:xfrm>
                <a:off x="1640031" y="5201649"/>
                <a:ext cx="3048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DE" dirty="0"/>
                  <a:t>X</a:t>
                </a:r>
              </a:p>
            </p:txBody>
          </p:sp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9A3F3D8-0358-8D89-C291-5204A9F992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4805" y="3754633"/>
                <a:ext cx="316681" cy="34256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DDD66A0-5A25-365F-C64C-7C7C1E3900E7}"/>
                  </a:ext>
                </a:extLst>
              </p:cNvPr>
              <p:cNvSpPr txBox="1"/>
              <p:nvPr/>
            </p:nvSpPr>
            <p:spPr>
              <a:xfrm>
                <a:off x="990581" y="3664896"/>
                <a:ext cx="3048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DE" dirty="0"/>
                  <a:t>Y</a:t>
                </a:r>
              </a:p>
            </p:txBody>
          </p:sp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B403E6BE-7D3A-CF0D-D4F8-2D450324DF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2474" y="4166181"/>
                <a:ext cx="0" cy="94084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D03D1CB9-1CBB-A920-19E1-DF01B43F0B29}"/>
                  </a:ext>
                </a:extLst>
              </p:cNvPr>
              <p:cNvSpPr txBox="1"/>
              <p:nvPr/>
            </p:nvSpPr>
            <p:spPr>
              <a:xfrm>
                <a:off x="840196" y="4451935"/>
                <a:ext cx="30809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DE" dirty="0"/>
                  <a:t>C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3442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165D5-6B3E-6E34-C8BE-17DC47FE0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653803-FB8D-215A-3DF7-CA49667BF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220" y="703384"/>
            <a:ext cx="6339059" cy="57051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CB48B3-E599-3EB0-3EA0-75A9D2B0C6C7}"/>
              </a:ext>
            </a:extLst>
          </p:cNvPr>
          <p:cNvSpPr txBox="1"/>
          <p:nvPr/>
        </p:nvSpPr>
        <p:spPr>
          <a:xfrm>
            <a:off x="3047048" y="1404104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b="1" dirty="0">
                <a:solidFill>
                  <a:schemeClr val="bg1"/>
                </a:solidFill>
              </a:rPr>
              <a:t>OME-Zarr</a:t>
            </a:r>
            <a:r>
              <a:rPr lang="en-DE" sz="28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FCAAD5-6B6E-0A1D-CB82-BAFFE11B08A0}"/>
              </a:ext>
            </a:extLst>
          </p:cNvPr>
          <p:cNvSpPr txBox="1"/>
          <p:nvPr/>
        </p:nvSpPr>
        <p:spPr>
          <a:xfrm>
            <a:off x="4331018" y="2366434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b="1" dirty="0">
                <a:solidFill>
                  <a:schemeClr val="bg1"/>
                </a:solidFill>
              </a:rPr>
              <a:t>OME-TIFF</a:t>
            </a:r>
            <a:r>
              <a:rPr lang="en-DE" sz="28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A45CF0-0306-68EB-01A6-83C1D5EEB189}"/>
              </a:ext>
            </a:extLst>
          </p:cNvPr>
          <p:cNvSpPr txBox="1"/>
          <p:nvPr/>
        </p:nvSpPr>
        <p:spPr>
          <a:xfrm>
            <a:off x="5518308" y="897907"/>
            <a:ext cx="10997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JPEG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D0F32-DF10-BD05-B119-3FC2F6FCF7A9}"/>
              </a:ext>
            </a:extLst>
          </p:cNvPr>
          <p:cNvSpPr txBox="1"/>
          <p:nvPr/>
        </p:nvSpPr>
        <p:spPr>
          <a:xfrm>
            <a:off x="5614990" y="1736229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PNG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AE5C9-5E72-76B2-9F3E-C5DCB2B456B5}"/>
              </a:ext>
            </a:extLst>
          </p:cNvPr>
          <p:cNvSpPr txBox="1"/>
          <p:nvPr/>
        </p:nvSpPr>
        <p:spPr>
          <a:xfrm>
            <a:off x="3173556" y="3163545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CZI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7DFF12-7A6B-2258-0CFC-0E78BB3465D0}"/>
              </a:ext>
            </a:extLst>
          </p:cNvPr>
          <p:cNvSpPr txBox="1"/>
          <p:nvPr/>
        </p:nvSpPr>
        <p:spPr>
          <a:xfrm>
            <a:off x="7309960" y="1789722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IMS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EBC928-AF0E-3067-DF3D-F4E228D31B81}"/>
              </a:ext>
            </a:extLst>
          </p:cNvPr>
          <p:cNvSpPr txBox="1"/>
          <p:nvPr/>
        </p:nvSpPr>
        <p:spPr>
          <a:xfrm>
            <a:off x="3490826" y="4399766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XML/HDF5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2EB0F5-C21C-B50B-7B5F-EF36884BC300}"/>
              </a:ext>
            </a:extLst>
          </p:cNvPr>
          <p:cNvSpPr txBox="1"/>
          <p:nvPr/>
        </p:nvSpPr>
        <p:spPr>
          <a:xfrm>
            <a:off x="6664492" y="2669442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LIF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A70880-547C-C2B0-8023-3B009204D19D}"/>
              </a:ext>
            </a:extLst>
          </p:cNvPr>
          <p:cNvSpPr txBox="1"/>
          <p:nvPr/>
        </p:nvSpPr>
        <p:spPr>
          <a:xfrm>
            <a:off x="6618057" y="4399766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ICS/IDS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FAFE5B-BFF8-AE26-B878-4E91F479E9C2}"/>
              </a:ext>
            </a:extLst>
          </p:cNvPr>
          <p:cNvSpPr txBox="1"/>
          <p:nvPr/>
        </p:nvSpPr>
        <p:spPr>
          <a:xfrm>
            <a:off x="5365909" y="3410836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ND2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2488DB-229F-C26F-951E-F142EE3D0216}"/>
              </a:ext>
            </a:extLst>
          </p:cNvPr>
          <p:cNvSpPr txBox="1"/>
          <p:nvPr/>
        </p:nvSpPr>
        <p:spPr>
          <a:xfrm>
            <a:off x="7517542" y="1033647"/>
            <a:ext cx="17649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2800" dirty="0">
                <a:solidFill>
                  <a:schemeClr val="bg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97819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5225A4-EDE9-094D-8695-5C92DE4CD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904" y="3578035"/>
            <a:ext cx="7112276" cy="34028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974945-C0A7-DD42-A689-AE3935D79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140" y="318052"/>
            <a:ext cx="3488741" cy="36437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1B5A246-1080-CB4B-86B7-19A3F4734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778" y="576469"/>
            <a:ext cx="4642482" cy="31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418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D156-D752-3642-8FA3-63962D7060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OME-TIFF</a:t>
            </a:r>
          </a:p>
        </p:txBody>
      </p:sp>
    </p:spTree>
    <p:extLst>
      <p:ext uri="{BB962C8B-B14F-4D97-AF65-F5344CB8AC3E}">
        <p14:creationId xmlns:p14="http://schemas.microsoft.com/office/powerpoint/2010/main" val="2710592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ED9775-8AEB-4D01-4DA3-35C5FB7E9C0A}"/>
              </a:ext>
            </a:extLst>
          </p:cNvPr>
          <p:cNvGraphicFramePr>
            <a:graphicFrameLocks noGrp="1"/>
          </p:cNvGraphicFramePr>
          <p:nvPr/>
        </p:nvGraphicFramePr>
        <p:xfrm>
          <a:off x="1404503" y="1048348"/>
          <a:ext cx="787020" cy="793794"/>
        </p:xfrm>
        <a:graphic>
          <a:graphicData uri="http://schemas.openxmlformats.org/drawingml/2006/table">
            <a:tbl>
              <a:tblPr/>
              <a:tblGrid>
                <a:gridCol w="131170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9119E2F2-9362-C8B7-4781-E17895FE86AA}"/>
              </a:ext>
            </a:extLst>
          </p:cNvPr>
          <p:cNvSpPr txBox="1"/>
          <p:nvPr/>
        </p:nvSpPr>
        <p:spPr>
          <a:xfrm>
            <a:off x="23853" y="397682"/>
            <a:ext cx="1219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101010110</a:t>
            </a:r>
            <a:r>
              <a:rPr lang="en-DE" sz="1200" dirty="0">
                <a:highlight>
                  <a:srgbClr val="0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</a:t>
            </a:r>
            <a:r>
              <a:rPr lang="en-DE" sz="12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000001000000</a:t>
            </a:r>
            <a:r>
              <a:rPr lang="en-DE" sz="1200" dirty="0">
                <a:highlight>
                  <a:srgbClr val="0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00010</a:t>
            </a:r>
            <a:r>
              <a:rPr lang="en-DE" sz="12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001010000101</a:t>
            </a:r>
            <a:r>
              <a:rPr lang="en-DE" sz="1200" dirty="0">
                <a:highlight>
                  <a:srgbClr val="0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</a:t>
            </a:r>
            <a:r>
              <a:rPr lang="en-DE" sz="12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001010001001</a:t>
            </a:r>
            <a:r>
              <a:rPr lang="en-DE" sz="1200" dirty="0">
                <a:highlight>
                  <a:srgbClr val="0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</a:t>
            </a:r>
            <a:r>
              <a:rPr lang="en-DE" sz="12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010001010100</a:t>
            </a:r>
            <a:r>
              <a:rPr lang="en-DE" sz="1200" dirty="0">
                <a:highlight>
                  <a:srgbClr val="0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0001</a:t>
            </a:r>
            <a:r>
              <a:rPr lang="en-DE" sz="12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001000101100001101</a:t>
            </a:r>
            <a:r>
              <a:rPr lang="en-DE" sz="1200" dirty="0">
                <a:highlight>
                  <a:srgbClr val="0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</a:t>
            </a:r>
            <a:r>
              <a:rPr lang="en-DE" sz="12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010010010110000110</a:t>
            </a:r>
            <a:r>
              <a:rPr lang="en-DE" sz="1200" dirty="0">
                <a:highlight>
                  <a:srgbClr val="FF00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001001011000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2E268F7-3CED-B49F-898D-263650964A73}"/>
              </a:ext>
            </a:extLst>
          </p:cNvPr>
          <p:cNvGraphicFramePr>
            <a:graphicFrameLocks noGrp="1"/>
          </p:cNvGraphicFramePr>
          <p:nvPr/>
        </p:nvGraphicFramePr>
        <p:xfrm>
          <a:off x="3000230" y="1048348"/>
          <a:ext cx="787020" cy="793794"/>
        </p:xfrm>
        <a:graphic>
          <a:graphicData uri="http://schemas.openxmlformats.org/drawingml/2006/table">
            <a:tbl>
              <a:tblPr/>
              <a:tblGrid>
                <a:gridCol w="131170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131170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A18F03EE-6241-A302-3224-6ED97D39FBC9}"/>
              </a:ext>
            </a:extLst>
          </p:cNvPr>
          <p:cNvGraphicFramePr>
            <a:graphicFrameLocks noGrp="1"/>
          </p:cNvGraphicFramePr>
          <p:nvPr/>
        </p:nvGraphicFramePr>
        <p:xfrm>
          <a:off x="4535998" y="1048348"/>
          <a:ext cx="773490" cy="793794"/>
        </p:xfrm>
        <a:graphic>
          <a:graphicData uri="http://schemas.openxmlformats.org/drawingml/2006/table">
            <a:tbl>
              <a:tblPr/>
              <a:tblGrid>
                <a:gridCol w="128915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128915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128915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128915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128915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128915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2121396-7454-1C76-8DAD-C805FC8CBCA8}"/>
              </a:ext>
            </a:extLst>
          </p:cNvPr>
          <p:cNvGraphicFramePr>
            <a:graphicFrameLocks noGrp="1"/>
          </p:cNvGraphicFramePr>
          <p:nvPr/>
        </p:nvGraphicFramePr>
        <p:xfrm>
          <a:off x="5876522" y="1048348"/>
          <a:ext cx="774504" cy="793794"/>
        </p:xfrm>
        <a:graphic>
          <a:graphicData uri="http://schemas.openxmlformats.org/drawingml/2006/table">
            <a:tbl>
              <a:tblPr/>
              <a:tblGrid>
                <a:gridCol w="129084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129084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129084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129084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129084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129084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132299"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3546" marR="33546" marT="18450" marB="184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60560DFF-09E7-1B44-3AB8-DA3EFC3FD581}"/>
              </a:ext>
            </a:extLst>
          </p:cNvPr>
          <p:cNvGraphicFramePr>
            <a:graphicFrameLocks noGrp="1"/>
          </p:cNvGraphicFramePr>
          <p:nvPr/>
        </p:nvGraphicFramePr>
        <p:xfrm>
          <a:off x="7158426" y="1048348"/>
          <a:ext cx="1864421" cy="1419228"/>
        </p:xfrm>
        <a:graphic>
          <a:graphicData uri="http://schemas.openxmlformats.org/drawingml/2006/table">
            <a:tbl>
              <a:tblPr/>
              <a:tblGrid>
                <a:gridCol w="143417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182770171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782757639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924451402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141037479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2846690789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2681643245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201087526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533881816"/>
                    </a:ext>
                  </a:extLst>
                </a:gridCol>
              </a:tblGrid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0392482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310586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7597971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311EA9D8-B79D-0398-7E9A-F691F85F4919}"/>
              </a:ext>
            </a:extLst>
          </p:cNvPr>
          <p:cNvSpPr txBox="1"/>
          <p:nvPr/>
        </p:nvSpPr>
        <p:spPr>
          <a:xfrm>
            <a:off x="2494603" y="2902072"/>
            <a:ext cx="251862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0080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IFD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Pixel data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Width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Offset to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Offset to next IFD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557F51-13DD-3C54-DCA8-C4845789B319}"/>
              </a:ext>
            </a:extLst>
          </p:cNvPr>
          <p:cNvSpPr txBox="1"/>
          <p:nvPr/>
        </p:nvSpPr>
        <p:spPr>
          <a:xfrm>
            <a:off x="7857437" y="2902072"/>
            <a:ext cx="339609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FF00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OME-XML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Calibri" panose="020F0502020204030204" pitchFamily="34" charset="0"/>
                <a:cs typeface="Calibri" panose="020F0502020204030204" pitchFamily="34" charset="0"/>
              </a:rPr>
              <a:t>PixelPhysicalSize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Microscope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Plane 0:  S = 0, Z = 0, T = 0, C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Plane 1:  S = 0, Z = 1, T = 0, C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Plane 2:  S = 0, Z = 2, T = 0, C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Plane 3:  S = 0, Z = 3, T = 0, C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Plane 4:  S = 1, Z = 0, T = 0, C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Plane 5:  S = 1, Z = 0, T = 0, C =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 = Series: Planes belonging to the same “image” with same width, height and data type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04F3B0-3E2B-18BE-49FC-EF22A7AEA524}"/>
              </a:ext>
            </a:extLst>
          </p:cNvPr>
          <p:cNvSpPr txBox="1"/>
          <p:nvPr/>
        </p:nvSpPr>
        <p:spPr>
          <a:xfrm>
            <a:off x="350015" y="2902072"/>
            <a:ext cx="208287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00FFFF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TIFF header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Byte order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Offset to first IFD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endParaRPr lang="en-DE" sz="1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F0406A-4C37-2E8A-1FDB-F40C10D413C6}"/>
              </a:ext>
            </a:extLst>
          </p:cNvPr>
          <p:cNvGraphicFramePr>
            <a:graphicFrameLocks noGrp="1"/>
          </p:cNvGraphicFramePr>
          <p:nvPr/>
        </p:nvGraphicFramePr>
        <p:xfrm>
          <a:off x="9268834" y="1048348"/>
          <a:ext cx="1864421" cy="1419228"/>
        </p:xfrm>
        <a:graphic>
          <a:graphicData uri="http://schemas.openxmlformats.org/drawingml/2006/table">
            <a:tbl>
              <a:tblPr/>
              <a:tblGrid>
                <a:gridCol w="143417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182770171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782757639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924451402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141037479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2846690789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2681643245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201087526"/>
                    </a:ext>
                  </a:extLst>
                </a:gridCol>
                <a:gridCol w="143417">
                  <a:extLst>
                    <a:ext uri="{9D8B030D-6E8A-4147-A177-3AD203B41FA5}">
                      <a16:colId xmlns:a16="http://schemas.microsoft.com/office/drawing/2014/main" val="3533881816"/>
                    </a:ext>
                  </a:extLst>
                </a:gridCol>
              </a:tblGrid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0392482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310586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7597971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157692"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7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9819" marR="39819" marT="21900" marB="219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3EFAC2C-BBD9-0E01-5E46-EE7D997F5838}"/>
              </a:ext>
            </a:extLst>
          </p:cNvPr>
          <p:cNvSpPr txBox="1"/>
          <p:nvPr/>
        </p:nvSpPr>
        <p:spPr>
          <a:xfrm>
            <a:off x="4875625" y="2902072"/>
            <a:ext cx="25186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One plane of pixel data</a:t>
            </a:r>
          </a:p>
          <a:p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6875384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6B7B8-A95B-1A6A-B521-446DE9C0B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DE" dirty="0"/>
              <a:t>Big image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E09E9D-2AC1-BF71-4621-01956DDC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278672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ED9775-8AEB-4D01-4DA3-35C5FB7E9C0A}"/>
              </a:ext>
            </a:extLst>
          </p:cNvPr>
          <p:cNvGraphicFramePr>
            <a:graphicFrameLocks noGrp="1"/>
          </p:cNvGraphicFramePr>
          <p:nvPr/>
        </p:nvGraphicFramePr>
        <p:xfrm>
          <a:off x="5116335" y="1153843"/>
          <a:ext cx="2157600" cy="2069508"/>
        </p:xfrm>
        <a:graphic>
          <a:graphicData uri="http://schemas.openxmlformats.org/drawingml/2006/table">
            <a:tbl>
              <a:tblPr/>
              <a:tblGrid>
                <a:gridCol w="359600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08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B704576-7A3F-C8E8-B537-D9608320DD5B}"/>
              </a:ext>
            </a:extLst>
          </p:cNvPr>
          <p:cNvSpPr txBox="1"/>
          <p:nvPr/>
        </p:nvSpPr>
        <p:spPr>
          <a:xfrm>
            <a:off x="477823" y="3495578"/>
            <a:ext cx="416292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Metadata</a:t>
            </a:r>
          </a:p>
          <a:p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Pixel data type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Offset to pixel data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Number of resolutions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Image dimensions (r)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Chunk dimensions (r)</a:t>
            </a:r>
          </a:p>
          <a:p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Pixel physical size (r)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99504-107E-13F5-5A28-CD9E51AA6F9A}"/>
              </a:ext>
            </a:extLst>
          </p:cNvPr>
          <p:cNvSpPr txBox="1"/>
          <p:nvPr/>
        </p:nvSpPr>
        <p:spPr>
          <a:xfrm>
            <a:off x="4810376" y="143052"/>
            <a:ext cx="1735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Resolution 0</a:t>
            </a:r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2164C4-EAD7-5060-0959-105521B16517}"/>
              </a:ext>
            </a:extLst>
          </p:cNvPr>
          <p:cNvCxnSpPr>
            <a:cxnSpLocks/>
          </p:cNvCxnSpPr>
          <p:nvPr/>
        </p:nvCxnSpPr>
        <p:spPr>
          <a:xfrm>
            <a:off x="8052339" y="2177189"/>
            <a:ext cx="93151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F7E9E09-3088-1F60-F0C9-B67D7D6BF9F9}"/>
              </a:ext>
            </a:extLst>
          </p:cNvPr>
          <p:cNvSpPr txBox="1"/>
          <p:nvPr/>
        </p:nvSpPr>
        <p:spPr>
          <a:xfrm>
            <a:off x="477823" y="143052"/>
            <a:ext cx="1398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Metadata</a:t>
            </a:r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957362-92BF-BFF3-0731-404AC44E15E6}"/>
              </a:ext>
            </a:extLst>
          </p:cNvPr>
          <p:cNvSpPr txBox="1"/>
          <p:nvPr/>
        </p:nvSpPr>
        <p:spPr>
          <a:xfrm>
            <a:off x="7463630" y="1687113"/>
            <a:ext cx="21647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Down-sampling</a:t>
            </a:r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19E2F2-9362-C8B7-4781-E17895FE86AA}"/>
              </a:ext>
            </a:extLst>
          </p:cNvPr>
          <p:cNvSpPr txBox="1"/>
          <p:nvPr/>
        </p:nvSpPr>
        <p:spPr>
          <a:xfrm>
            <a:off x="254437" y="533886"/>
            <a:ext cx="11619505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333" dirty="0">
                <a:latin typeface="Courier New" panose="02070309020205020404" pitchFamily="49" charset="0"/>
                <a:cs typeface="Courier New" panose="02070309020205020404" pitchFamily="49" charset="0"/>
              </a:rPr>
              <a:t>1110010101100………</a:t>
            </a:r>
            <a:r>
              <a:rPr lang="en-DE" sz="1333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00000000…100000000</a:t>
            </a:r>
            <a:r>
              <a:rPr lang="en-DE" sz="1333" dirty="0">
                <a:highlight>
                  <a:srgbClr val="FF00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010001010…00010100</a:t>
            </a:r>
            <a:r>
              <a:rPr lang="en-DE" sz="1333" dirty="0"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0000201000…10010000</a:t>
            </a:r>
            <a:r>
              <a:rPr lang="en-DE" sz="1333" dirty="0">
                <a:highlight>
                  <a:srgbClr val="8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010001010…10000010</a:t>
            </a:r>
            <a:r>
              <a:rPr lang="en-DE" sz="1333" dirty="0">
                <a:latin typeface="Courier New" panose="02070309020205020404" pitchFamily="49" charset="0"/>
                <a:cs typeface="Courier New" panose="02070309020205020404" pitchFamily="49" charset="0"/>
              </a:rPr>
              <a:t>……………</a:t>
            </a:r>
            <a:r>
              <a:rPr lang="en-DE" sz="1333" dirty="0"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010001010…1000001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3615F5B-351B-7AE2-4E48-A37A76BA44AE}"/>
              </a:ext>
            </a:extLst>
          </p:cNvPr>
          <p:cNvGraphicFramePr>
            <a:graphicFrameLocks noGrp="1"/>
          </p:cNvGraphicFramePr>
          <p:nvPr/>
        </p:nvGraphicFramePr>
        <p:xfrm>
          <a:off x="9938895" y="1658059"/>
          <a:ext cx="1132467" cy="1061073"/>
        </p:xfrm>
        <a:graphic>
          <a:graphicData uri="http://schemas.openxmlformats.org/drawingml/2006/table">
            <a:tbl>
              <a:tblPr/>
              <a:tblGrid>
                <a:gridCol w="377489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377489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377489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</a:tblGrid>
              <a:tr h="353691"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353691"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353691"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44531FD-25B8-A7FD-271A-3B9D19997753}"/>
              </a:ext>
            </a:extLst>
          </p:cNvPr>
          <p:cNvSpPr txBox="1"/>
          <p:nvPr/>
        </p:nvSpPr>
        <p:spPr>
          <a:xfrm>
            <a:off x="9958271" y="143052"/>
            <a:ext cx="17357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Calibri" panose="020F0502020204030204" pitchFamily="34" charset="0"/>
                <a:cs typeface="Calibri" panose="020F0502020204030204" pitchFamily="34" charset="0"/>
              </a:rPr>
              <a:t>Resolution 1</a:t>
            </a:r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EA8C98-B306-DA37-F253-D227AC41095A}"/>
              </a:ext>
            </a:extLst>
          </p:cNvPr>
          <p:cNvSpPr txBox="1"/>
          <p:nvPr/>
        </p:nvSpPr>
        <p:spPr>
          <a:xfrm rot="16200000">
            <a:off x="3511495" y="1946356"/>
            <a:ext cx="2617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Square chunking</a:t>
            </a:r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765529-0630-27C5-A02E-9A36B2772392}"/>
              </a:ext>
            </a:extLst>
          </p:cNvPr>
          <p:cNvGraphicFramePr>
            <a:graphicFrameLocks noGrp="1"/>
          </p:cNvGraphicFramePr>
          <p:nvPr/>
        </p:nvGraphicFramePr>
        <p:xfrm>
          <a:off x="2206815" y="1150699"/>
          <a:ext cx="2179926" cy="2075796"/>
        </p:xfrm>
        <a:graphic>
          <a:graphicData uri="http://schemas.openxmlformats.org/drawingml/2006/table">
            <a:tbl>
              <a:tblPr/>
              <a:tblGrid>
                <a:gridCol w="363321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363321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363321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363321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363321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363321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345965"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DE" sz="1600" b="0" i="0" u="none" strike="noStrike" cap="none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  <a:sym typeface="Arial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DE" sz="1600" b="0" i="0" u="none" strike="noStrike" cap="none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  <a:sym typeface="Arial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DE" sz="1600" b="0" i="0" u="none" strike="noStrike" cap="none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  <a:sym typeface="Arial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345965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345965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345965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345965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345965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2124" marR="102124" marT="51063" marB="51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045387F-F1DA-0CEA-A31D-B66BB09798A6}"/>
              </a:ext>
            </a:extLst>
          </p:cNvPr>
          <p:cNvSpPr txBox="1"/>
          <p:nvPr/>
        </p:nvSpPr>
        <p:spPr>
          <a:xfrm rot="16200000">
            <a:off x="879665" y="1971694"/>
            <a:ext cx="20331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Row chunking</a:t>
            </a:r>
            <a:endParaRPr lang="en-DE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6AD4FB-DB38-61FF-C9C7-9A2D857DCD2F}"/>
              </a:ext>
            </a:extLst>
          </p:cNvPr>
          <p:cNvGrpSpPr/>
          <p:nvPr/>
        </p:nvGrpSpPr>
        <p:grpSpPr>
          <a:xfrm>
            <a:off x="5872524" y="3515009"/>
            <a:ext cx="5291147" cy="3228323"/>
            <a:chOff x="1092565" y="440697"/>
            <a:chExt cx="6646220" cy="4055103"/>
          </a:xfrm>
        </p:grpSpPr>
        <p:pic>
          <p:nvPicPr>
            <p:cNvPr id="21" name="Google Shape;54;p13">
              <a:extLst>
                <a:ext uri="{FF2B5EF4-FFF2-40B4-BE49-F238E27FC236}">
                  <a16:creationId xmlns:a16="http://schemas.microsoft.com/office/drawing/2014/main" id="{37F6F3D5-E182-329D-2C7C-A04489865C63}"/>
                </a:ext>
              </a:extLst>
            </p:cNvPr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092565" y="448983"/>
              <a:ext cx="2057398" cy="20574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56;p13">
              <a:extLst>
                <a:ext uri="{FF2B5EF4-FFF2-40B4-BE49-F238E27FC236}">
                  <a16:creationId xmlns:a16="http://schemas.microsoft.com/office/drawing/2014/main" id="{6D6ED7EF-E2DB-C1C3-4136-1FB4BF1C54F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7705" t="14045" r="7847" b="10365"/>
            <a:stretch/>
          </p:blipFill>
          <p:spPr>
            <a:xfrm>
              <a:off x="1092565" y="2654300"/>
              <a:ext cx="2057398" cy="1841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57;p13">
              <a:extLst>
                <a:ext uri="{FF2B5EF4-FFF2-40B4-BE49-F238E27FC236}">
                  <a16:creationId xmlns:a16="http://schemas.microsoft.com/office/drawing/2014/main" id="{95B79F37-FDCC-0651-C32A-4883C6829840}"/>
                </a:ext>
              </a:extLst>
            </p:cNvPr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398865" y="448983"/>
              <a:ext cx="2057398" cy="20574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58;p13">
              <a:extLst>
                <a:ext uri="{FF2B5EF4-FFF2-40B4-BE49-F238E27FC236}">
                  <a16:creationId xmlns:a16="http://schemas.microsoft.com/office/drawing/2014/main" id="{0DB33B37-CD5C-DAB2-BD58-59669E95197E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092565" y="448984"/>
              <a:ext cx="2063218" cy="20574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59;p13">
              <a:extLst>
                <a:ext uri="{FF2B5EF4-FFF2-40B4-BE49-F238E27FC236}">
                  <a16:creationId xmlns:a16="http://schemas.microsoft.com/office/drawing/2014/main" id="{36974BDF-A7E5-FC3B-1FAD-3DC61E4F69C0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660159" y="440697"/>
              <a:ext cx="2078625" cy="20786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60;p13">
              <a:extLst>
                <a:ext uri="{FF2B5EF4-FFF2-40B4-BE49-F238E27FC236}">
                  <a16:creationId xmlns:a16="http://schemas.microsoft.com/office/drawing/2014/main" id="{124AE3C6-30B7-8238-40B7-EDBABA681C6E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383190" y="1164369"/>
              <a:ext cx="531480" cy="5245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Google Shape;61;p13">
              <a:extLst>
                <a:ext uri="{FF2B5EF4-FFF2-40B4-BE49-F238E27FC236}">
                  <a16:creationId xmlns:a16="http://schemas.microsoft.com/office/drawing/2014/main" id="{7138C917-1A64-FD0A-0FA0-FE5594AC985D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 l="7306" t="16438" r="7780" b="10407"/>
            <a:stretch/>
          </p:blipFill>
          <p:spPr>
            <a:xfrm>
              <a:off x="5660159" y="2654299"/>
              <a:ext cx="2078626" cy="17907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62;p13">
              <a:extLst>
                <a:ext uri="{FF2B5EF4-FFF2-40B4-BE49-F238E27FC236}">
                  <a16:creationId xmlns:a16="http://schemas.microsoft.com/office/drawing/2014/main" id="{2CAF9BDF-3643-336E-D5D1-810A98033F92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 l="8669" t="16862" r="8623" b="11800"/>
            <a:stretch/>
          </p:blipFill>
          <p:spPr>
            <a:xfrm>
              <a:off x="3398865" y="2654300"/>
              <a:ext cx="2082451" cy="179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63;p13">
              <a:extLst>
                <a:ext uri="{FF2B5EF4-FFF2-40B4-BE49-F238E27FC236}">
                  <a16:creationId xmlns:a16="http://schemas.microsoft.com/office/drawing/2014/main" id="{6221B15F-258C-982E-A958-944AA1DD1DAD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834059" y="448972"/>
              <a:ext cx="420475" cy="4161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Google Shape;64;p13">
              <a:extLst>
                <a:ext uri="{FF2B5EF4-FFF2-40B4-BE49-F238E27FC236}">
                  <a16:creationId xmlns:a16="http://schemas.microsoft.com/office/drawing/2014/main" id="{8813BA83-CE1D-C398-979A-B5533D790E8E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624509" y="865147"/>
              <a:ext cx="420475" cy="4161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0" name="Google Shape;65;p13">
              <a:extLst>
                <a:ext uri="{FF2B5EF4-FFF2-40B4-BE49-F238E27FC236}">
                  <a16:creationId xmlns:a16="http://schemas.microsoft.com/office/drawing/2014/main" id="{9A8C4BA2-7728-EC3B-87FC-D4B44F87B311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427559" y="1269597"/>
              <a:ext cx="420475" cy="4161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66;p13">
              <a:extLst>
                <a:ext uri="{FF2B5EF4-FFF2-40B4-BE49-F238E27FC236}">
                  <a16:creationId xmlns:a16="http://schemas.microsoft.com/office/drawing/2014/main" id="{C0AAEDAF-DB79-43D9-0D9C-EDF9A20E8410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217321" y="1685772"/>
              <a:ext cx="420475" cy="4161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67;p13">
              <a:extLst>
                <a:ext uri="{FF2B5EF4-FFF2-40B4-BE49-F238E27FC236}">
                  <a16:creationId xmlns:a16="http://schemas.microsoft.com/office/drawing/2014/main" id="{E0E52C16-0763-338D-15C0-929FCD5C6DAC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007084" y="2090222"/>
              <a:ext cx="420475" cy="416176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577366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ED9775-8AEB-4D01-4DA3-35C5FB7E9C0A}"/>
              </a:ext>
            </a:extLst>
          </p:cNvPr>
          <p:cNvGraphicFramePr>
            <a:graphicFrameLocks noGrp="1"/>
          </p:cNvGraphicFramePr>
          <p:nvPr/>
        </p:nvGraphicFramePr>
        <p:xfrm>
          <a:off x="5775710" y="928400"/>
          <a:ext cx="2157600" cy="2069508"/>
        </p:xfrm>
        <a:graphic>
          <a:graphicData uri="http://schemas.openxmlformats.org/drawingml/2006/table">
            <a:tbl>
              <a:tblPr/>
              <a:tblGrid>
                <a:gridCol w="359600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1938937240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1031040740"/>
                    </a:ext>
                  </a:extLst>
                </a:gridCol>
                <a:gridCol w="359600">
                  <a:extLst>
                    <a:ext uri="{9D8B030D-6E8A-4147-A177-3AD203B41FA5}">
                      <a16:colId xmlns:a16="http://schemas.microsoft.com/office/drawing/2014/main" val="3881649973"/>
                    </a:ext>
                  </a:extLst>
                </a:gridCol>
              </a:tblGrid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highlight>
                          <a:srgbClr val="FFFF0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3272598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8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30748"/>
                  </a:ext>
                </a:extLst>
              </a:tr>
              <a:tr h="344917"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0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0800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6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1079" marR="101079" marT="50539" marB="505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8080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3801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299504-107E-13F5-5A28-CD9E51AA6F9A}"/>
              </a:ext>
            </a:extLst>
          </p:cNvPr>
          <p:cNvSpPr txBox="1"/>
          <p:nvPr/>
        </p:nvSpPr>
        <p:spPr>
          <a:xfrm>
            <a:off x="6900660" y="4366753"/>
            <a:ext cx="72244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0/</a:t>
            </a:r>
            <a:r>
              <a:rPr lang="en-US" sz="20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0/</a:t>
            </a:r>
            <a:r>
              <a:rPr lang="en-US" sz="2000" dirty="0">
                <a:highlight>
                  <a:srgbClr val="FF00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en-DE" sz="2000" dirty="0">
              <a:highlight>
                <a:srgbClr val="FF00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0/</a:t>
            </a:r>
            <a:r>
              <a:rPr lang="en-US" sz="2000" dirty="0"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endParaRPr lang="en-DE" sz="2000" dirty="0">
              <a:highlight>
                <a:srgbClr val="FF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0/</a:t>
            </a:r>
            <a:r>
              <a:rPr lang="en-US" sz="2000" dirty="0">
                <a:highlight>
                  <a:srgbClr val="808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D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D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2164C4-EAD7-5060-0959-105521B16517}"/>
              </a:ext>
            </a:extLst>
          </p:cNvPr>
          <p:cNvCxnSpPr>
            <a:cxnSpLocks/>
          </p:cNvCxnSpPr>
          <p:nvPr/>
        </p:nvCxnSpPr>
        <p:spPr>
          <a:xfrm>
            <a:off x="8348643" y="1963152"/>
            <a:ext cx="93151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F7E9E09-3088-1F60-F0C9-B67D7D6BF9F9}"/>
              </a:ext>
            </a:extLst>
          </p:cNvPr>
          <p:cNvSpPr txBox="1"/>
          <p:nvPr/>
        </p:nvSpPr>
        <p:spPr>
          <a:xfrm>
            <a:off x="1167750" y="3429000"/>
            <a:ext cx="2480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Metadata JSON text files</a:t>
            </a:r>
            <a:endParaRPr lang="en-DE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957362-92BF-BFF3-0731-404AC44E15E6}"/>
              </a:ext>
            </a:extLst>
          </p:cNvPr>
          <p:cNvSpPr txBox="1"/>
          <p:nvPr/>
        </p:nvSpPr>
        <p:spPr>
          <a:xfrm>
            <a:off x="7933310" y="1454886"/>
            <a:ext cx="1727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Down-scale</a:t>
            </a:r>
            <a:endParaRPr lang="en-DE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3615F5B-351B-7AE2-4E48-A37A76BA44AE}"/>
              </a:ext>
            </a:extLst>
          </p:cNvPr>
          <p:cNvGraphicFramePr>
            <a:graphicFrameLocks noGrp="1"/>
          </p:cNvGraphicFramePr>
          <p:nvPr/>
        </p:nvGraphicFramePr>
        <p:xfrm>
          <a:off x="9753443" y="1432616"/>
          <a:ext cx="1132467" cy="1061073"/>
        </p:xfrm>
        <a:graphic>
          <a:graphicData uri="http://schemas.openxmlformats.org/drawingml/2006/table">
            <a:tbl>
              <a:tblPr/>
              <a:tblGrid>
                <a:gridCol w="377489">
                  <a:extLst>
                    <a:ext uri="{9D8B030D-6E8A-4147-A177-3AD203B41FA5}">
                      <a16:colId xmlns:a16="http://schemas.microsoft.com/office/drawing/2014/main" val="520751035"/>
                    </a:ext>
                  </a:extLst>
                </a:gridCol>
                <a:gridCol w="377489">
                  <a:extLst>
                    <a:ext uri="{9D8B030D-6E8A-4147-A177-3AD203B41FA5}">
                      <a16:colId xmlns:a16="http://schemas.microsoft.com/office/drawing/2014/main" val="162460214"/>
                    </a:ext>
                  </a:extLst>
                </a:gridCol>
                <a:gridCol w="377489">
                  <a:extLst>
                    <a:ext uri="{9D8B030D-6E8A-4147-A177-3AD203B41FA5}">
                      <a16:colId xmlns:a16="http://schemas.microsoft.com/office/drawing/2014/main" val="3565137725"/>
                    </a:ext>
                  </a:extLst>
                </a:gridCol>
              </a:tblGrid>
              <a:tr h="353691"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059969"/>
                  </a:ext>
                </a:extLst>
              </a:tr>
              <a:tr h="353691"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651988"/>
                  </a:ext>
                </a:extLst>
              </a:tr>
              <a:tr h="353691"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500" dirty="0">
                        <a:highlight>
                          <a:srgbClr val="000080"/>
                        </a:highlight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06107" marR="106107" marT="53053" marB="530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121677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7772186F-4609-2F3A-70E0-24726ECB0934}"/>
              </a:ext>
            </a:extLst>
          </p:cNvPr>
          <p:cNvSpPr txBox="1"/>
          <p:nvPr/>
        </p:nvSpPr>
        <p:spPr>
          <a:xfrm>
            <a:off x="10082570" y="4336381"/>
            <a:ext cx="6463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1/</a:t>
            </a:r>
            <a:r>
              <a:rPr lang="en-US" sz="2000" dirty="0"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en-DE" sz="2000" dirty="0">
              <a:highlight>
                <a:srgbClr val="00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B0662ED-6854-BA0F-4541-BA06A6D6CD8E}"/>
              </a:ext>
            </a:extLst>
          </p:cNvPr>
          <p:cNvSpPr txBox="1"/>
          <p:nvPr/>
        </p:nvSpPr>
        <p:spPr>
          <a:xfrm>
            <a:off x="525585" y="3959286"/>
            <a:ext cx="45271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"axes": [ {"name": "t", "type": "time", "unit": "millisecond"}, {"name": "c", "type": "channel"}, {"name": "z", "type": "space", "unit": "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micrometer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"}, {"name": "y", "type": "space", "unit": "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micrometer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"}, {"name": "x", "type": "space", "unit": "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micrometer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"} ],</a:t>
            </a:r>
            <a:r>
              <a:rPr lang="en-GB" sz="1200" dirty="0"/>
              <a:t> 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"datasets": [ { "path": "0", "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coordinateTransformations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[{"type": "scale", "scale": [1.0, 1.0, 0.5, 0.5, 0.5] }] }, { "path": "1", "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coordinateTransformations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[{"type": "scale", "scale": [1.0, 1.0, 1.0, 1.0, 1.0] }] }, …</a:t>
            </a:r>
            <a:endParaRPr lang="en-DE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FFDC25-2622-2215-A911-F1356089F26D}"/>
              </a:ext>
            </a:extLst>
          </p:cNvPr>
          <p:cNvSpPr txBox="1"/>
          <p:nvPr/>
        </p:nvSpPr>
        <p:spPr>
          <a:xfrm>
            <a:off x="7750418" y="3559176"/>
            <a:ext cx="1996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Resolution folders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2D716B8-3891-6CDA-C57E-F237206A96B2}"/>
              </a:ext>
            </a:extLst>
          </p:cNvPr>
          <p:cNvCxnSpPr>
            <a:stCxn id="3" idx="1"/>
          </p:cNvCxnSpPr>
          <p:nvPr/>
        </p:nvCxnSpPr>
        <p:spPr>
          <a:xfrm flipH="1">
            <a:off x="7100047" y="3743842"/>
            <a:ext cx="650371" cy="5925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30F2BD-EA4B-7019-E65E-D9A3F93E673A}"/>
              </a:ext>
            </a:extLst>
          </p:cNvPr>
          <p:cNvCxnSpPr>
            <a:cxnSpLocks/>
          </p:cNvCxnSpPr>
          <p:nvPr/>
        </p:nvCxnSpPr>
        <p:spPr>
          <a:xfrm>
            <a:off x="9624290" y="3759231"/>
            <a:ext cx="585594" cy="577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B29EDB9-6C00-67A2-69B3-9E1E62B041D1}"/>
              </a:ext>
            </a:extLst>
          </p:cNvPr>
          <p:cNvSpPr txBox="1"/>
          <p:nvPr/>
        </p:nvSpPr>
        <p:spPr>
          <a:xfrm>
            <a:off x="8566654" y="5684331"/>
            <a:ext cx="18252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Binary chunk files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0106C-533B-5526-92FE-E6299951E151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7650336" y="5524531"/>
            <a:ext cx="916318" cy="3444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34E5073-6893-8332-D2B2-B8C0800F0F6A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0391887" y="4941516"/>
            <a:ext cx="171243" cy="9274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9A33973-122F-A1C9-CF18-8CCEC023325B}"/>
              </a:ext>
            </a:extLst>
          </p:cNvPr>
          <p:cNvSpPr txBox="1"/>
          <p:nvPr/>
        </p:nvSpPr>
        <p:spPr>
          <a:xfrm>
            <a:off x="589397" y="947055"/>
            <a:ext cx="41224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OME-Zarr builds on ZARR: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Nested folder structure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Metadata text files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Binary data array chunks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One OME-Zarr folder can contain multiple 5D images</a:t>
            </a:r>
            <a:endParaRPr lang="en-DE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625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B74822-0795-A157-B999-CF2C9B906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605626" y="2496150"/>
            <a:ext cx="1844194" cy="18544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FEEFF4-9B9F-4F8E-BBFE-B277D78A38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t="10727" b="12317"/>
          <a:stretch/>
        </p:blipFill>
        <p:spPr>
          <a:xfrm>
            <a:off x="4895850" y="4150756"/>
            <a:ext cx="2057400" cy="1583294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465C50-9478-22BF-F545-FABB7C047DC3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>
            <a:off x="4449820" y="3423399"/>
            <a:ext cx="1474730" cy="727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F482B2C-35C0-1A40-30DC-EBD4864D920A}"/>
              </a:ext>
            </a:extLst>
          </p:cNvPr>
          <p:cNvSpPr txBox="1"/>
          <p:nvPr/>
        </p:nvSpPr>
        <p:spPr>
          <a:xfrm>
            <a:off x="4687331" y="3745388"/>
            <a:ext cx="57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http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07E732-9AD2-608B-CFC4-83D62720C47D}"/>
              </a:ext>
            </a:extLst>
          </p:cNvPr>
          <p:cNvSpPr txBox="1"/>
          <p:nvPr/>
        </p:nvSpPr>
        <p:spPr>
          <a:xfrm>
            <a:off x="5090825" y="3238733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ftp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38A416-C363-FD45-4CB2-4EBC8A0B3581}"/>
              </a:ext>
            </a:extLst>
          </p:cNvPr>
          <p:cNvSpPr txBox="1"/>
          <p:nvPr/>
        </p:nvSpPr>
        <p:spPr>
          <a:xfrm>
            <a:off x="5479677" y="3550680"/>
            <a:ext cx="639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999017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C0D2F-1DDF-A9F9-A4B9-19EAD2363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Zarr version 2 and version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8DB53-0C0A-F073-1148-9E785837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32593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774</Words>
  <Application>Microsoft Macintosh PowerPoint</Application>
  <PresentationFormat>Widescreen</PresentationFormat>
  <Paragraphs>165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Courier New</vt:lpstr>
      <vt:lpstr>Office Theme</vt:lpstr>
      <vt:lpstr>The OME-Zarr  image data format</vt:lpstr>
      <vt:lpstr>Content day 1</vt:lpstr>
      <vt:lpstr>Content day 2</vt:lpstr>
      <vt:lpstr>Resources</vt:lpstr>
      <vt:lpstr>PowerPoint Presentation</vt:lpstr>
      <vt:lpstr>PowerPoint Presentation</vt:lpstr>
      <vt:lpstr>PowerPoint Presentation</vt:lpstr>
      <vt:lpstr>PowerPoint Presentation</vt:lpstr>
      <vt:lpstr>Multi channel images</vt:lpstr>
      <vt:lpstr>PowerPoint Presentation</vt:lpstr>
      <vt:lpstr>PowerPoint Presentation</vt:lpstr>
      <vt:lpstr>PowerPoint Presentation</vt:lpstr>
      <vt:lpstr>OME-TIFF</vt:lpstr>
      <vt:lpstr>PowerPoint Presentation</vt:lpstr>
      <vt:lpstr>Big image data</vt:lpstr>
      <vt:lpstr>PowerPoint Presentation</vt:lpstr>
      <vt:lpstr>PowerPoint Presentation</vt:lpstr>
      <vt:lpstr>PowerPoint Presentation</vt:lpstr>
      <vt:lpstr>Zarr version 2 and version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Tischer</dc:creator>
  <cp:lastModifiedBy>Christian Tischer</cp:lastModifiedBy>
  <cp:revision>7</cp:revision>
  <dcterms:created xsi:type="dcterms:W3CDTF">2026-05-18T05:50:17Z</dcterms:created>
  <dcterms:modified xsi:type="dcterms:W3CDTF">2026-05-18T11:02:14Z</dcterms:modified>
</cp:coreProperties>
</file>