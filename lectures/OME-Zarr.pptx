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6" r:id="rId3"/>
    <p:sldId id="277" r:id="rId4"/>
    <p:sldId id="273" r:id="rId5"/>
    <p:sldId id="264" r:id="rId6"/>
    <p:sldId id="271" r:id="rId7"/>
    <p:sldId id="265" r:id="rId8"/>
    <p:sldId id="258" r:id="rId9"/>
    <p:sldId id="257" r:id="rId10"/>
    <p:sldId id="269" r:id="rId11"/>
    <p:sldId id="281" r:id="rId12"/>
    <p:sldId id="267" r:id="rId13"/>
    <p:sldId id="259" r:id="rId14"/>
    <p:sldId id="275" r:id="rId15"/>
    <p:sldId id="279" r:id="rId16"/>
    <p:sldId id="283" r:id="rId17"/>
    <p:sldId id="280" r:id="rId18"/>
    <p:sldId id="262" r:id="rId19"/>
    <p:sldId id="261" r:id="rId20"/>
    <p:sldId id="284" r:id="rId21"/>
    <p:sldId id="263" r:id="rId22"/>
    <p:sldId id="282" r:id="rId23"/>
    <p:sldId id="285" r:id="rId24"/>
    <p:sldId id="286" r:id="rId25"/>
    <p:sldId id="266" r:id="rId26"/>
    <p:sldId id="272" r:id="rId27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F3C821-538E-F149-8E31-279350E275EA}" type="datetimeFigureOut">
              <a:rPr lang="en-DE" smtClean="0"/>
              <a:t>18.05.26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28E1E-CD2C-DB40-85E1-CA584BB2DEF2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6470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CA9BA-AA2F-3F49-BAEC-998B0713EED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8344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: xy_8bit__nucleus_calibrated.tif</a:t>
            </a: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C4596-9333-5B48-AF09-D4A72557A3A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9344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1396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99113f80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99113f80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99113f80a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99113f80a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99113f80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d99113f80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EF634-3011-7C89-E6F8-6F542F938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B1AA13-3A5E-46E5-A235-872D751A7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90E11-23FC-EA60-6852-CACE0AB2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AFF42-A2E5-AD47-86FD-35C99CD5689E}" type="datetimeFigureOut">
              <a:rPr lang="en-DE" smtClean="0"/>
              <a:t>18.05.26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C3532-D044-D31D-C27B-68B51886A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30C6F-4BE3-2AF9-B7AF-6BAF266EC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13719-4C9B-CD48-B1DF-D1F6130AD14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2449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836C2-DCEF-6598-E4C6-4DF589102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ABF78-2E77-A4F8-784E-A51D94F4E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49BCA-81F6-226E-ED19-3D312A979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AFF42-A2E5-AD47-86FD-35C99CD5689E}" type="datetimeFigureOut">
              <a:rPr lang="en-DE" smtClean="0"/>
              <a:t>18.05.26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A7F68-5694-B285-164F-3D24FD807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5BF4C-B437-55A9-A5EC-13CBAE31C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13719-4C9B-CD48-B1DF-D1F6130AD14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26292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674B0-8B14-8838-149D-2F3563238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A4433-DEF6-64ED-D5AE-3104600E8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D189B-9326-934C-5CC3-1BE48FAB6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AFF42-A2E5-AD47-86FD-35C99CD5689E}" type="datetimeFigureOut">
              <a:rPr lang="en-DE" smtClean="0"/>
              <a:t>18.05.26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826AD-B73F-8DB1-6F74-95041E06E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A339F-0801-9B50-070F-91E3701B9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13719-4C9B-CD48-B1DF-D1F6130AD14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31187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1CE5E-E2D7-CE9B-3A02-6B93C599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C2406-110C-AB90-983F-88F2C1B5B6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D2B8C-3959-DE44-7CE5-41B1A9AA9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9C920-A4CF-96F2-24E3-B54273C8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AFF42-A2E5-AD47-86FD-35C99CD5689E}" type="datetimeFigureOut">
              <a:rPr lang="en-DE" smtClean="0"/>
              <a:t>18.05.26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84611-607E-46C7-D71B-15A94E16B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82145-A423-44A2-F212-5002BFC5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13719-4C9B-CD48-B1DF-D1F6130AD14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5600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E0632-5247-A314-5A78-1A28BFD55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472C6-4B02-D35F-0B2D-43446194F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1BDD0A-28B5-EA66-0DF3-BBE041CFA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32FF55-23B9-989B-E34B-AD81F0CA7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414D8E-7968-9D34-CB4F-FB79E79812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3FD9F1-9176-BAE5-6F38-DB8C927A0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AFF42-A2E5-AD47-86FD-35C99CD5689E}" type="datetimeFigureOut">
              <a:rPr lang="en-DE" smtClean="0"/>
              <a:t>18.05.26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92CBA8-F893-EE64-2FB0-A7C851C0A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6EF6C9-8B0A-33DE-11C4-1D959B105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13719-4C9B-CD48-B1DF-D1F6130AD14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7939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FAAC3-D022-7B17-3C67-7E24106CE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C5548D-031D-87CA-EFC5-24A018B73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AFF42-A2E5-AD47-86FD-35C99CD5689E}" type="datetimeFigureOut">
              <a:rPr lang="en-DE" smtClean="0"/>
              <a:t>18.05.26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31D5EB-66B9-5CC9-10E8-799126A6E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C97D08-A2C0-44B7-4D2D-B8BCC9A14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13719-4C9B-CD48-B1DF-D1F6130AD14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51329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69B01A-91AA-F3C8-C6F7-7D4BABDFE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AFF42-A2E5-AD47-86FD-35C99CD5689E}" type="datetimeFigureOut">
              <a:rPr lang="en-DE" smtClean="0"/>
              <a:t>18.05.26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D93B01-1C6C-290E-7786-2B5144551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ECA84-6B7F-BB22-EE36-85A247A94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13719-4C9B-CD48-B1DF-D1F6130AD14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09032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C9AE8-DAD5-E2EF-825E-2433A8178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331D3-90F9-5CF4-35F3-DEE57394E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EEF6D-FAF9-A572-20F6-6906338B9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76CE9-EA78-0FCE-9E35-0379CDC19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AFF42-A2E5-AD47-86FD-35C99CD5689E}" type="datetimeFigureOut">
              <a:rPr lang="en-DE" smtClean="0"/>
              <a:t>18.05.26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BC8D4-602C-00A4-D719-699EEDB5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6F4E3-475F-CF72-1761-92AB5212D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13719-4C9B-CD48-B1DF-D1F6130AD14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60091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8BE0B-C056-3A35-3EBE-EE698AEED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77C8B2-4126-F4AA-76CB-0B55438FE6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9982C8-D69D-5306-2380-1E1D77E3C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1DEB8-8680-BEEF-7080-92EBD2F42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AFF42-A2E5-AD47-86FD-35C99CD5689E}" type="datetimeFigureOut">
              <a:rPr lang="en-DE" smtClean="0"/>
              <a:t>18.05.26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324AC-3EB5-BAF3-DC0B-11669A3BF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57653A-98F1-E42E-B438-0AF47EAF0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13719-4C9B-CD48-B1DF-D1F6130AD14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15882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7EE8-20ED-8C59-783D-91605476D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29DA0F-04EA-C2DD-D638-36EB58169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09A70-680F-A048-17DB-25FA197C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AFF42-A2E5-AD47-86FD-35C99CD5689E}" type="datetimeFigureOut">
              <a:rPr lang="en-DE" smtClean="0"/>
              <a:t>18.05.26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5558A-CDEF-CE43-BE66-F86A5CA1C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0EF34-0F1E-1FC0-EB3B-86473A033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13719-4C9B-CD48-B1DF-D1F6130AD14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33229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DAD514-3414-B74D-7FBC-6E3FD469B3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5F1CC-A20D-6078-D7AE-C7510B3FD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32AFB-BA82-88D7-2B23-33F682B92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AFF42-A2E5-AD47-86FD-35C99CD5689E}" type="datetimeFigureOut">
              <a:rPr lang="en-DE" smtClean="0"/>
              <a:t>18.05.26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BC15F-870C-2829-4379-755E9A360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72283-E5CD-6AB8-1461-3006555D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13719-4C9B-CD48-B1DF-D1F6130AD14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91409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0025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3AAD8F-DE50-ECFF-FAF4-60DC66551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30958-CFFB-593A-FF2C-89F9AF03E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FAD0D-78D3-32FD-FFD5-F954D7E73E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AFF42-A2E5-AD47-86FD-35C99CD5689E}" type="datetimeFigureOut">
              <a:rPr lang="en-DE" smtClean="0"/>
              <a:t>18.05.26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5554F-4D02-75B8-3046-D4B5C95A9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FF709-6710-6BB2-117B-D2BA632A8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13719-4C9B-CD48-B1DF-D1F6130AD14B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32565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zarr-developers/zarr-illustrations-falk-2022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tiff"/><Relationship Id="rId4" Type="http://schemas.openxmlformats.org/officeDocument/2006/relationships/image" Target="../media/image16.tif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blue-cloud-icon-simple-white-1296737/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aken.wikiwijs.nl/103380/ICT_Basisvaardigheden_voor_EOA_leerlingen__Stedelijk_College_Eindhoven__OBB" TargetMode="External"/><Relationship Id="rId4" Type="http://schemas.openxmlformats.org/officeDocument/2006/relationships/image" Target="../media/image30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31FD1-6ACF-91F4-4828-908CC4CC99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DE" dirty="0"/>
              <a:t>The OME-Zarr </a:t>
            </a:r>
            <a:br>
              <a:rPr lang="en-DE" dirty="0"/>
            </a:br>
            <a:r>
              <a:rPr lang="en-DE" dirty="0"/>
              <a:t>image data format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D5A37-9729-AB7F-4B37-016A3136E5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E" dirty="0"/>
              <a:t>Christian Tischer &amp; Erick Ratamero</a:t>
            </a:r>
          </a:p>
          <a:p>
            <a:r>
              <a:rPr lang="en-DE" dirty="0"/>
              <a:t>Data Science Centre, EMBL</a:t>
            </a:r>
          </a:p>
          <a:p>
            <a:endParaRPr lang="en-DE" dirty="0"/>
          </a:p>
        </p:txBody>
      </p:sp>
      <p:pic>
        <p:nvPicPr>
          <p:cNvPr id="4" name="Google Shape;139;p18">
            <a:extLst>
              <a:ext uri="{FF2B5EF4-FFF2-40B4-BE49-F238E27FC236}">
                <a16:creationId xmlns:a16="http://schemas.microsoft.com/office/drawing/2014/main" id="{E864DA90-B04B-1BA1-7E58-F2EA768E2D0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9923" y="5465380"/>
            <a:ext cx="2602725" cy="994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6" name="Picture 2" descr="NFDI4BIOIMAGE - German BioImaging">
            <a:extLst>
              <a:ext uri="{FF2B5EF4-FFF2-40B4-BE49-F238E27FC236}">
                <a16:creationId xmlns:a16="http://schemas.microsoft.com/office/drawing/2014/main" id="{C7C4B22E-4B58-AE60-AF37-02F694CD9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876" y="5562380"/>
            <a:ext cx="2573721" cy="800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Data Science Centre – Managing ...">
            <a:extLst>
              <a:ext uri="{FF2B5EF4-FFF2-40B4-BE49-F238E27FC236}">
                <a16:creationId xmlns:a16="http://schemas.microsoft.com/office/drawing/2014/main" id="{615BB5CB-5826-D217-E551-94000C4E0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4745" y="141436"/>
            <a:ext cx="1546693" cy="1546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European Molecular Biology Laboratory ...">
            <a:extLst>
              <a:ext uri="{FF2B5EF4-FFF2-40B4-BE49-F238E27FC236}">
                <a16:creationId xmlns:a16="http://schemas.microsoft.com/office/drawing/2014/main" id="{763DA741-2467-49E1-C3C9-BE3E4C44E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802" y="403446"/>
            <a:ext cx="2379278" cy="1022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781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8D138-F2A3-3295-5FE5-76D1888E0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Content day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90E10-6134-15BD-81A9-EA5EF0845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DE" dirty="0"/>
              <a:t>Digital image basics</a:t>
            </a:r>
            <a:endParaRPr lang="en-DE" b="0" dirty="0">
              <a:effectLst/>
            </a:endParaRPr>
          </a:p>
          <a:p>
            <a:r>
              <a:rPr lang="en-DE" dirty="0"/>
              <a:t>Image metadata (data type, voxel size, channel info)</a:t>
            </a:r>
            <a:endParaRPr lang="en-DE" b="0" dirty="0">
              <a:effectLst/>
            </a:endParaRPr>
          </a:p>
          <a:p>
            <a:r>
              <a:rPr lang="en-DE" dirty="0"/>
              <a:t>Big image data</a:t>
            </a:r>
            <a:endParaRPr lang="en-DE" b="0" dirty="0">
              <a:effectLst/>
            </a:endParaRPr>
          </a:p>
          <a:p>
            <a:pPr lvl="1"/>
            <a:r>
              <a:rPr lang="en-DE" dirty="0"/>
              <a:t>Multi-resolution</a:t>
            </a:r>
            <a:endParaRPr lang="en-DE" b="0" dirty="0">
              <a:effectLst/>
            </a:endParaRPr>
          </a:p>
          <a:p>
            <a:pPr lvl="1"/>
            <a:r>
              <a:rPr lang="en-GB" dirty="0"/>
              <a:t>C</a:t>
            </a:r>
            <a:r>
              <a:rPr lang="en-DE" dirty="0"/>
              <a:t>hunking</a:t>
            </a:r>
          </a:p>
          <a:p>
            <a:pPr lvl="1"/>
            <a:r>
              <a:rPr lang="en-DE" dirty="0"/>
              <a:t>S</a:t>
            </a:r>
            <a:r>
              <a:rPr lang="en-DE" b="0" dirty="0">
                <a:effectLst/>
              </a:rPr>
              <a:t>harding</a:t>
            </a:r>
          </a:p>
          <a:p>
            <a:r>
              <a:rPr lang="en-DE" dirty="0"/>
              <a:t>OME-Zarr</a:t>
            </a:r>
            <a:endParaRPr lang="en-DE" b="0" dirty="0">
              <a:effectLst/>
            </a:endParaRPr>
          </a:p>
          <a:p>
            <a:pPr lvl="1"/>
            <a:r>
              <a:rPr lang="en-DE" dirty="0"/>
              <a:t>versions</a:t>
            </a:r>
            <a:endParaRPr lang="en-DE" b="0" dirty="0">
              <a:effectLst/>
            </a:endParaRPr>
          </a:p>
          <a:p>
            <a:br>
              <a:rPr lang="en-DE" dirty="0"/>
            </a:b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134092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8A528-CFCC-C883-7701-B36A8AC4E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39305-5966-3B72-1984-8BE1FEE1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Content day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E2329-E49C-01A8-B2FA-C6CD18D4C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DE" dirty="0"/>
              <a:t>Sharing with external collaborators</a:t>
            </a:r>
            <a:endParaRPr lang="en-DE" b="0" dirty="0">
              <a:effectLst/>
            </a:endParaRPr>
          </a:p>
          <a:p>
            <a:r>
              <a:rPr lang="en-DE" dirty="0"/>
              <a:t>Remote access for cloud computation</a:t>
            </a:r>
            <a:endParaRPr lang="en-DE" b="0" dirty="0">
              <a:effectLst/>
            </a:endParaRPr>
          </a:p>
          <a:p>
            <a:r>
              <a:rPr lang="en-DE" dirty="0"/>
              <a:t>Challenges</a:t>
            </a:r>
            <a:endParaRPr lang="en-DE" b="0" dirty="0">
              <a:effectLst/>
            </a:endParaRPr>
          </a:p>
          <a:p>
            <a:r>
              <a:rPr lang="en-DE" dirty="0"/>
              <a:t>Object storage</a:t>
            </a:r>
            <a:br>
              <a:rPr lang="en-DE" dirty="0"/>
            </a:br>
            <a:br>
              <a:rPr lang="en-DE" dirty="0"/>
            </a:b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80609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54C0A-9113-8B82-7A3E-0271E6B00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C9B03-3001-4687-77FF-B358D77D5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https://</a:t>
            </a:r>
            <a:r>
              <a:rPr lang="en-GB" dirty="0" err="1"/>
              <a:t>zenodo.org</a:t>
            </a:r>
            <a:r>
              <a:rPr lang="en-GB" dirty="0"/>
              <a:t>/records/17639350/files/Halfway_to_i2k_conference_2025_JohannesSoltwedel.pptx?download=1</a:t>
            </a:r>
          </a:p>
          <a:p>
            <a:r>
              <a:rPr lang="en-GB" dirty="0">
                <a:hlinkClick r:id="rId2"/>
              </a:rPr>
              <a:t>https://github.com/zarr-developers/zarr-illustrations-falk-2022</a:t>
            </a:r>
            <a:endParaRPr lang="en-GB" dirty="0"/>
          </a:p>
          <a:p>
            <a:r>
              <a:rPr lang="en-GB" dirty="0"/>
              <a:t>https://</a:t>
            </a:r>
            <a:r>
              <a:rPr lang="en-GB" dirty="0" err="1"/>
              <a:t>docs.google.com</a:t>
            </a:r>
            <a:r>
              <a:rPr lang="en-GB" dirty="0"/>
              <a:t>/presentation/d/1Bc2G7gnIN7DCjY5N4DuA3bb2uQQCf-xL4aVPvfpS-oA/</a:t>
            </a:r>
            <a:r>
              <a:rPr lang="en-GB" dirty="0" err="1"/>
              <a:t>edit?slide</a:t>
            </a:r>
            <a:r>
              <a:rPr lang="en-GB" dirty="0"/>
              <a:t>=id.g2a02b0a1836_1_35#slide=id.g2a02b0a1836_1_35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749026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B83D80-55D8-FE4F-8493-B5BE501A1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730" y="1884943"/>
            <a:ext cx="4116498" cy="41246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DC42C3-0B53-1846-BB3C-8270F5310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468" y="1629104"/>
            <a:ext cx="4728532" cy="448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416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8D9A3-49AF-88AD-CA09-6FE5DCA0D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718" y="2638464"/>
            <a:ext cx="3052243" cy="30522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460B12-1FCE-8843-9F16-F58CFB2F4128}"/>
                  </a:ext>
                </a:extLst>
              </p:cNvPr>
              <p:cNvSpPr txBox="1"/>
              <p:nvPr/>
            </p:nvSpPr>
            <p:spPr>
              <a:xfrm>
                <a:off x="4802907" y="1824665"/>
                <a:ext cx="277883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=12 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0.5 </m:t>
                      </m:r>
                      <m:r>
                        <a:rPr lang="en-US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µ</m:t>
                      </m:r>
                      <m:r>
                        <a:rPr lang="en-US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=6 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a:rPr lang="en-US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0.5 µ</m:t>
                      </m:r>
                      <m:r>
                        <a:rPr lang="en-US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460B12-1FCE-8843-9F16-F58CFB2F4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907" y="1824665"/>
                <a:ext cx="2778838" cy="646331"/>
              </a:xfrm>
              <a:prstGeom prst="rect">
                <a:avLst/>
              </a:prstGeom>
              <a:blipFill>
                <a:blip r:embed="rId4"/>
                <a:stretch>
                  <a:fillRect b="-961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57BC08D2-26A8-3E40-BB59-5C2B6734CB97}"/>
              </a:ext>
            </a:extLst>
          </p:cNvPr>
          <p:cNvSpPr txBox="1"/>
          <p:nvPr/>
        </p:nvSpPr>
        <p:spPr>
          <a:xfrm>
            <a:off x="3821270" y="1395650"/>
            <a:ext cx="418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Index</a:t>
            </a:r>
            <a:r>
              <a:rPr lang="en-US" dirty="0"/>
              <a:t> * </a:t>
            </a:r>
            <a:r>
              <a:rPr lang="en-US" dirty="0">
                <a:solidFill>
                  <a:schemeClr val="accent6"/>
                </a:solidFill>
              </a:rPr>
              <a:t>Calibration</a:t>
            </a:r>
            <a:r>
              <a:rPr lang="en-US" dirty="0"/>
              <a:t> = Calibrated coordinate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3A2E411-C08A-4640-A448-A379E17AFA64}"/>
              </a:ext>
            </a:extLst>
          </p:cNvPr>
          <p:cNvSpPr/>
          <p:nvPr/>
        </p:nvSpPr>
        <p:spPr>
          <a:xfrm>
            <a:off x="-2517887" y="2638464"/>
            <a:ext cx="111873" cy="101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D7C7E3-9AFF-044D-943D-8BBF70434797}"/>
              </a:ext>
            </a:extLst>
          </p:cNvPr>
          <p:cNvSpPr txBox="1"/>
          <p:nvPr/>
        </p:nvSpPr>
        <p:spPr>
          <a:xfrm>
            <a:off x="-2949467" y="2280114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 (0,0)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751660E-140E-0145-851A-CAF8945C4609}"/>
              </a:ext>
            </a:extLst>
          </p:cNvPr>
          <p:cNvSpPr/>
          <p:nvPr/>
        </p:nvSpPr>
        <p:spPr>
          <a:xfrm>
            <a:off x="4268220" y="2585223"/>
            <a:ext cx="111873" cy="101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20AB59-7596-1E4D-84E1-770249E3B1CE}"/>
              </a:ext>
            </a:extLst>
          </p:cNvPr>
          <p:cNvSpPr txBox="1"/>
          <p:nvPr/>
        </p:nvSpPr>
        <p:spPr>
          <a:xfrm>
            <a:off x="3882460" y="222970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EFBBFBF-1AB9-90C2-ADA6-827A74E37748}"/>
              </a:ext>
            </a:extLst>
          </p:cNvPr>
          <p:cNvSpPr/>
          <p:nvPr/>
        </p:nvSpPr>
        <p:spPr>
          <a:xfrm>
            <a:off x="6080454" y="3542691"/>
            <a:ext cx="111873" cy="10170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AAA1EB-CB17-61DA-B0EE-01960C819EDC}"/>
              </a:ext>
            </a:extLst>
          </p:cNvPr>
          <p:cNvSpPr txBox="1">
            <a:spLocks/>
          </p:cNvSpPr>
          <p:nvPr/>
        </p:nvSpPr>
        <p:spPr>
          <a:xfrm>
            <a:off x="328094" y="167587"/>
            <a:ext cx="11360800" cy="7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dirty="0"/>
              <a:t>Image calibration</a:t>
            </a:r>
          </a:p>
        </p:txBody>
      </p:sp>
    </p:spTree>
    <p:extLst>
      <p:ext uri="{BB962C8B-B14F-4D97-AF65-F5344CB8AC3E}">
        <p14:creationId xmlns:p14="http://schemas.microsoft.com/office/powerpoint/2010/main" val="3647780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A846E5-3D55-F441-907F-420B2B28B907}"/>
              </a:ext>
            </a:extLst>
          </p:cNvPr>
          <p:cNvSpPr txBox="1"/>
          <p:nvPr/>
        </p:nvSpPr>
        <p:spPr>
          <a:xfrm>
            <a:off x="4540468" y="549387"/>
            <a:ext cx="653059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8-bit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unsigned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integer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 = 0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1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00000101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5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11111111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+ … 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255 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16-bit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unsigned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integer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1111111111111111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+ … 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65535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1000000000000000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= 32768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0000111111111111 =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+ … + 2</a:t>
            </a:r>
            <a:r>
              <a:rPr lang="de-DE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11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 4095</a:t>
            </a:r>
          </a:p>
          <a:p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16-bit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signed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integer</a:t>
            </a:r>
          </a:p>
          <a:p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000000000000000 = </a:t>
            </a:r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000000000000000 = </a:t>
            </a:r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000000000000100 = </a:t>
            </a:r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32-bit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floating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</a:t>
            </a:r>
            <a:endParaRPr lang="de-DE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de-DE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00000010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00000000000000000000010 = </a:t>
            </a:r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1.?</a:t>
            </a:r>
            <a:r>
              <a:rPr lang="de-D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de-DE" baseline="300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24-bit RGB</a:t>
            </a:r>
          </a:p>
          <a:p>
            <a:r>
              <a:rPr lang="de-D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11111111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00000000</a:t>
            </a:r>
            <a:r>
              <a:rPr lang="de-DE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01000000 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= (</a:t>
            </a:r>
            <a:r>
              <a:rPr lang="de-D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255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de-DE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de-DE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de-DE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005A31F-6653-55F2-75AB-6619C251DBE8}"/>
              </a:ext>
            </a:extLst>
          </p:cNvPr>
          <p:cNvSpPr txBox="1">
            <a:spLocks/>
          </p:cNvSpPr>
          <p:nvPr/>
        </p:nvSpPr>
        <p:spPr>
          <a:xfrm>
            <a:off x="328094" y="167587"/>
            <a:ext cx="11360800" cy="7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dirty="0"/>
              <a:t>Image datatypes</a:t>
            </a:r>
          </a:p>
        </p:txBody>
      </p:sp>
    </p:spTree>
    <p:extLst>
      <p:ext uri="{BB962C8B-B14F-4D97-AF65-F5344CB8AC3E}">
        <p14:creationId xmlns:p14="http://schemas.microsoft.com/office/powerpoint/2010/main" val="3603261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115CA4-F504-D4F7-DEB3-4A4F108A82ED}"/>
              </a:ext>
            </a:extLst>
          </p:cNvPr>
          <p:cNvSpPr txBox="1"/>
          <p:nvPr/>
        </p:nvSpPr>
        <p:spPr>
          <a:xfrm>
            <a:off x="2556810" y="2491913"/>
            <a:ext cx="7512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011100...1001010010100010</a:t>
            </a:r>
            <a:r>
              <a:rPr lang="en-DE" sz="1400" dirty="0">
                <a:highlight>
                  <a:srgbClr val="808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00000000</a:t>
            </a:r>
            <a:r>
              <a:rPr lang="en-DE" sz="14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00001000</a:t>
            </a:r>
            <a:r>
              <a:rPr lang="en-DE" sz="1400" dirty="0">
                <a:highlight>
                  <a:srgbClr val="008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00000010</a:t>
            </a:r>
            <a:r>
              <a:rPr lang="en-DE" sz="14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00101010</a:t>
            </a:r>
            <a:r>
              <a:rPr lang="en-DE" sz="14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00001010</a:t>
            </a:r>
            <a:r>
              <a:rPr lang="en-D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EC0688-8FD3-73F7-BE17-B9E889F00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869983"/>
              </p:ext>
            </p:extLst>
          </p:nvPr>
        </p:nvGraphicFramePr>
        <p:xfrm>
          <a:off x="6193242" y="4191236"/>
          <a:ext cx="2101444" cy="1543575"/>
        </p:xfrm>
        <a:graphic>
          <a:graphicData uri="http://schemas.openxmlformats.org/drawingml/2006/table">
            <a:tbl>
              <a:tblPr/>
              <a:tblGrid>
                <a:gridCol w="525361">
                  <a:extLst>
                    <a:ext uri="{9D8B030D-6E8A-4147-A177-3AD203B41FA5}">
                      <a16:colId xmlns:a16="http://schemas.microsoft.com/office/drawing/2014/main" val="520751035"/>
                    </a:ext>
                  </a:extLst>
                </a:gridCol>
                <a:gridCol w="525361">
                  <a:extLst>
                    <a:ext uri="{9D8B030D-6E8A-4147-A177-3AD203B41FA5}">
                      <a16:colId xmlns:a16="http://schemas.microsoft.com/office/drawing/2014/main" val="162460214"/>
                    </a:ext>
                  </a:extLst>
                </a:gridCol>
                <a:gridCol w="525361">
                  <a:extLst>
                    <a:ext uri="{9D8B030D-6E8A-4147-A177-3AD203B41FA5}">
                      <a16:colId xmlns:a16="http://schemas.microsoft.com/office/drawing/2014/main" val="1031040740"/>
                    </a:ext>
                  </a:extLst>
                </a:gridCol>
                <a:gridCol w="525361">
                  <a:extLst>
                    <a:ext uri="{9D8B030D-6E8A-4147-A177-3AD203B41FA5}">
                      <a16:colId xmlns:a16="http://schemas.microsoft.com/office/drawing/2014/main" val="3881649973"/>
                    </a:ext>
                  </a:extLst>
                </a:gridCol>
              </a:tblGrid>
              <a:tr h="514525"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8080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8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42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059969"/>
                  </a:ext>
                </a:extLst>
              </a:tr>
              <a:tr h="514525"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7651988"/>
                  </a:ext>
                </a:extLst>
              </a:tr>
              <a:tr h="514525"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…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121677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2EE391A-AEA5-77C5-42B9-74970F0D0BC9}"/>
              </a:ext>
            </a:extLst>
          </p:cNvPr>
          <p:cNvCxnSpPr>
            <a:cxnSpLocks/>
          </p:cNvCxnSpPr>
          <p:nvPr/>
        </p:nvCxnSpPr>
        <p:spPr>
          <a:xfrm>
            <a:off x="5309603" y="2118940"/>
            <a:ext cx="0" cy="9982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7A1C703-C25B-5E66-E37B-FA55F76553D8}"/>
              </a:ext>
            </a:extLst>
          </p:cNvPr>
          <p:cNvSpPr txBox="1"/>
          <p:nvPr/>
        </p:nvSpPr>
        <p:spPr>
          <a:xfrm>
            <a:off x="2818581" y="2958973"/>
            <a:ext cx="29342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Pixel d</a:t>
            </a:r>
            <a:r>
              <a:rPr lang="en-DE" dirty="0"/>
              <a:t>ata start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Pixel data type (bit-depth)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Image d</a:t>
            </a:r>
            <a:r>
              <a:rPr lang="en-DE" dirty="0"/>
              <a:t>imensions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Compression</a:t>
            </a:r>
          </a:p>
          <a:p>
            <a:endParaRPr lang="en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Pixel physical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Microscope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/>
          </a:p>
          <a:p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D25340-5D88-CC17-DE6C-5DE35B3C89D2}"/>
              </a:ext>
            </a:extLst>
          </p:cNvPr>
          <p:cNvSpPr txBox="1"/>
          <p:nvPr/>
        </p:nvSpPr>
        <p:spPr>
          <a:xfrm>
            <a:off x="7271390" y="2047653"/>
            <a:ext cx="620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</a:t>
            </a:r>
            <a:endParaRPr lang="en-DE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5C42F14-2DF0-FBB0-8143-DFC3881AA522}"/>
              </a:ext>
            </a:extLst>
          </p:cNvPr>
          <p:cNvCxnSpPr>
            <a:cxnSpLocks/>
          </p:cNvCxnSpPr>
          <p:nvPr/>
        </p:nvCxnSpPr>
        <p:spPr>
          <a:xfrm flipV="1">
            <a:off x="4637086" y="2958973"/>
            <a:ext cx="654341" cy="211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BF93447-A444-6170-E75A-F7255D65D3AF}"/>
              </a:ext>
            </a:extLst>
          </p:cNvPr>
          <p:cNvCxnSpPr>
            <a:cxnSpLocks/>
          </p:cNvCxnSpPr>
          <p:nvPr/>
        </p:nvCxnSpPr>
        <p:spPr>
          <a:xfrm flipV="1">
            <a:off x="5643762" y="2836199"/>
            <a:ext cx="1724709" cy="5691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453600C-776F-D19B-89A8-1A40805CC355}"/>
              </a:ext>
            </a:extLst>
          </p:cNvPr>
          <p:cNvSpPr txBox="1"/>
          <p:nvPr/>
        </p:nvSpPr>
        <p:spPr>
          <a:xfrm>
            <a:off x="3413345" y="2045546"/>
            <a:ext cx="1095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Metadata</a:t>
            </a:r>
            <a:endParaRPr lang="en-DE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63921E-E477-3769-B6C3-85244D05CFFF}"/>
              </a:ext>
            </a:extLst>
          </p:cNvPr>
          <p:cNvSpPr txBox="1"/>
          <p:nvPr/>
        </p:nvSpPr>
        <p:spPr>
          <a:xfrm>
            <a:off x="6839937" y="3761425"/>
            <a:ext cx="952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Width</a:t>
            </a:r>
            <a:endParaRPr lang="en-DE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7D3038-3A1B-897A-E63E-FE937EB76EDE}"/>
              </a:ext>
            </a:extLst>
          </p:cNvPr>
          <p:cNvSpPr txBox="1"/>
          <p:nvPr/>
        </p:nvSpPr>
        <p:spPr>
          <a:xfrm rot="16200000">
            <a:off x="5352353" y="4659795"/>
            <a:ext cx="952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Height</a:t>
            </a:r>
            <a:endParaRPr lang="en-DE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6DB12F8-339F-0A2F-A059-A2B7FE19CBA3}"/>
              </a:ext>
            </a:extLst>
          </p:cNvPr>
          <p:cNvCxnSpPr>
            <a:cxnSpLocks/>
          </p:cNvCxnSpPr>
          <p:nvPr/>
        </p:nvCxnSpPr>
        <p:spPr>
          <a:xfrm>
            <a:off x="4989424" y="3761425"/>
            <a:ext cx="685581" cy="8972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EAB8E7D-AEBF-D782-96BA-65ED56E43564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5125196" y="3715053"/>
            <a:ext cx="1714741" cy="2310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BC704940-838F-03DE-5936-FF67BB6ADD44}"/>
              </a:ext>
            </a:extLst>
          </p:cNvPr>
          <p:cNvSpPr txBox="1">
            <a:spLocks/>
          </p:cNvSpPr>
          <p:nvPr/>
        </p:nvSpPr>
        <p:spPr>
          <a:xfrm>
            <a:off x="512842" y="204373"/>
            <a:ext cx="11360800" cy="76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dirty="0"/>
              <a:t>Image data layout on your hard-disk</a:t>
            </a:r>
          </a:p>
        </p:txBody>
      </p:sp>
    </p:spTree>
    <p:extLst>
      <p:ext uri="{BB962C8B-B14F-4D97-AF65-F5344CB8AC3E}">
        <p14:creationId xmlns:p14="http://schemas.microsoft.com/office/powerpoint/2010/main" val="1229276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5225A4-EDE9-094D-8695-5C92DE4CD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817" y="3698198"/>
            <a:ext cx="7112276" cy="34028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974945-C0A7-DD42-A689-AE3935D792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988" y="1022426"/>
            <a:ext cx="2833902" cy="29598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B5A246-1080-CB4B-86B7-19A3F47340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890" y="1022426"/>
            <a:ext cx="3771085" cy="25400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058F8D-8840-0EBD-C66A-D0D144A20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58826"/>
            <a:ext cx="11360800" cy="763600"/>
          </a:xfrm>
        </p:spPr>
        <p:txBody>
          <a:bodyPr>
            <a:normAutofit/>
          </a:bodyPr>
          <a:lstStyle/>
          <a:p>
            <a:r>
              <a:rPr lang="en-DE" dirty="0"/>
              <a:t>Image data and metadata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420DFD-1B82-7AC3-5792-868E8DEE1D97}"/>
              </a:ext>
            </a:extLst>
          </p:cNvPr>
          <p:cNvSpPr txBox="1"/>
          <p:nvPr/>
        </p:nvSpPr>
        <p:spPr>
          <a:xfrm>
            <a:off x="466257" y="3922664"/>
            <a:ext cx="4451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Plugins &gt; Bio-Formats &gt; Bio-Formats Importer</a:t>
            </a:r>
          </a:p>
        </p:txBody>
      </p:sp>
      <p:pic>
        <p:nvPicPr>
          <p:cNvPr id="1026" name="Picture 2" descr="Macro Programming in ImageJ, Jun 11th – Nencki Open Lab">
            <a:extLst>
              <a:ext uri="{FF2B5EF4-FFF2-40B4-BE49-F238E27FC236}">
                <a16:creationId xmlns:a16="http://schemas.microsoft.com/office/drawing/2014/main" id="{544DC620-C284-A8CF-DAC5-1BAC1F6F8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354" y="2069367"/>
            <a:ext cx="865969" cy="865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ducts | Open Microscopy Environment (OME)">
            <a:extLst>
              <a:ext uri="{FF2B5EF4-FFF2-40B4-BE49-F238E27FC236}">
                <a16:creationId xmlns:a16="http://schemas.microsoft.com/office/drawing/2014/main" id="{6446B38D-4FB1-9C4B-DEAE-1DE652336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85" y="3228961"/>
            <a:ext cx="3637076" cy="400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837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6B8B5B3-394A-0739-1F6E-293CFD486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4598" y="2425753"/>
            <a:ext cx="3821793" cy="3821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068737-650B-7467-E42E-563C22BB2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098" y="227292"/>
            <a:ext cx="2070100" cy="2070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7BFCE1-89BA-1244-A1A5-84260D57D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8098" y="2425753"/>
            <a:ext cx="2070100" cy="2070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B17D9E-456E-BD02-6FF7-86381C533B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8098" y="4624214"/>
            <a:ext cx="2070100" cy="20701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5ED7E9-99AA-4FF3-6A14-B6C681050230}"/>
              </a:ext>
            </a:extLst>
          </p:cNvPr>
          <p:cNvSpPr txBox="1"/>
          <p:nvPr/>
        </p:nvSpPr>
        <p:spPr>
          <a:xfrm>
            <a:off x="4949909" y="227292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Channel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08F974-950C-5CC5-89ED-B1700459BF42}"/>
              </a:ext>
            </a:extLst>
          </p:cNvPr>
          <p:cNvSpPr txBox="1"/>
          <p:nvPr/>
        </p:nvSpPr>
        <p:spPr>
          <a:xfrm>
            <a:off x="4926366" y="2361678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Channel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EECFD9-8D97-1157-0537-39CC3D6E7289}"/>
              </a:ext>
            </a:extLst>
          </p:cNvPr>
          <p:cNvSpPr txBox="1"/>
          <p:nvPr/>
        </p:nvSpPr>
        <p:spPr>
          <a:xfrm>
            <a:off x="4969063" y="4544429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chemeClr val="bg1"/>
                </a:solidFill>
              </a:rPr>
              <a:t>Channel 3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AE7B45C-5B8D-D486-676D-7B5673B444B9}"/>
              </a:ext>
            </a:extLst>
          </p:cNvPr>
          <p:cNvSpPr txBox="1"/>
          <p:nvPr/>
        </p:nvSpPr>
        <p:spPr>
          <a:xfrm>
            <a:off x="8724425" y="1446040"/>
            <a:ext cx="263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Merged/Composite image</a:t>
            </a:r>
          </a:p>
        </p:txBody>
      </p: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3ED0DD8E-4BE4-FDE9-F10D-676B57F2F497}"/>
              </a:ext>
            </a:extLst>
          </p:cNvPr>
          <p:cNvGrpSpPr/>
          <p:nvPr/>
        </p:nvGrpSpPr>
        <p:grpSpPr>
          <a:xfrm>
            <a:off x="6780423" y="547318"/>
            <a:ext cx="1697766" cy="1906085"/>
            <a:chOff x="7484753" y="4545598"/>
            <a:chExt cx="1697766" cy="1906085"/>
          </a:xfrm>
        </p:grpSpPr>
        <p:grpSp>
          <p:nvGrpSpPr>
            <p:cNvPr id="237" name="Group 236">
              <a:extLst>
                <a:ext uri="{FF2B5EF4-FFF2-40B4-BE49-F238E27FC236}">
                  <a16:creationId xmlns:a16="http://schemas.microsoft.com/office/drawing/2014/main" id="{E19B6BF0-A657-8E45-4109-CC6043FF70AA}"/>
                </a:ext>
              </a:extLst>
            </p:cNvPr>
            <p:cNvGrpSpPr/>
            <p:nvPr/>
          </p:nvGrpSpPr>
          <p:grpSpPr>
            <a:xfrm>
              <a:off x="7824191" y="5461874"/>
              <a:ext cx="1357441" cy="532485"/>
              <a:chOff x="177794" y="3163330"/>
              <a:chExt cx="1357441" cy="532485"/>
            </a:xfrm>
            <a:solidFill>
              <a:srgbClr val="00F3F0"/>
            </a:solidFill>
          </p:grpSpPr>
          <p:sp>
            <p:nvSpPr>
              <p:cNvPr id="238" name="Cube 237">
                <a:extLst>
                  <a:ext uri="{FF2B5EF4-FFF2-40B4-BE49-F238E27FC236}">
                    <a16:creationId xmlns:a16="http://schemas.microsoft.com/office/drawing/2014/main" id="{3B98B188-E272-322E-F7C2-014FE34350A8}"/>
                  </a:ext>
                </a:extLst>
              </p:cNvPr>
              <p:cNvSpPr/>
              <p:nvPr/>
            </p:nvSpPr>
            <p:spPr>
              <a:xfrm>
                <a:off x="344688" y="3163330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39" name="Cube 238">
                <a:extLst>
                  <a:ext uri="{FF2B5EF4-FFF2-40B4-BE49-F238E27FC236}">
                    <a16:creationId xmlns:a16="http://schemas.microsoft.com/office/drawing/2014/main" id="{82209A2D-F216-9DEB-ED47-985AC26F2313}"/>
                  </a:ext>
                </a:extLst>
              </p:cNvPr>
              <p:cNvSpPr/>
              <p:nvPr/>
            </p:nvSpPr>
            <p:spPr>
              <a:xfrm>
                <a:off x="616535" y="3163330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0" name="Cube 239">
                <a:extLst>
                  <a:ext uri="{FF2B5EF4-FFF2-40B4-BE49-F238E27FC236}">
                    <a16:creationId xmlns:a16="http://schemas.microsoft.com/office/drawing/2014/main" id="{3D1732B0-11CD-0A2F-C366-957F382C7BD7}"/>
                  </a:ext>
                </a:extLst>
              </p:cNvPr>
              <p:cNvSpPr/>
              <p:nvPr/>
            </p:nvSpPr>
            <p:spPr>
              <a:xfrm>
                <a:off x="888382" y="3163330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1" name="Cube 240">
                <a:extLst>
                  <a:ext uri="{FF2B5EF4-FFF2-40B4-BE49-F238E27FC236}">
                    <a16:creationId xmlns:a16="http://schemas.microsoft.com/office/drawing/2014/main" id="{8821E0B8-3487-06ED-0601-DA7BE01B997F}"/>
                  </a:ext>
                </a:extLst>
              </p:cNvPr>
              <p:cNvSpPr/>
              <p:nvPr/>
            </p:nvSpPr>
            <p:spPr>
              <a:xfrm>
                <a:off x="261435" y="3243649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2" name="Cube 241">
                <a:extLst>
                  <a:ext uri="{FF2B5EF4-FFF2-40B4-BE49-F238E27FC236}">
                    <a16:creationId xmlns:a16="http://schemas.microsoft.com/office/drawing/2014/main" id="{A50AF0AA-D563-EB4E-4D1C-4F10F8E35DBC}"/>
                  </a:ext>
                </a:extLst>
              </p:cNvPr>
              <p:cNvSpPr/>
              <p:nvPr/>
            </p:nvSpPr>
            <p:spPr>
              <a:xfrm>
                <a:off x="533282" y="3243649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3" name="Cube 242">
                <a:extLst>
                  <a:ext uri="{FF2B5EF4-FFF2-40B4-BE49-F238E27FC236}">
                    <a16:creationId xmlns:a16="http://schemas.microsoft.com/office/drawing/2014/main" id="{1E14C2DC-7B8C-89B6-72FC-BAE4E9734968}"/>
                  </a:ext>
                </a:extLst>
              </p:cNvPr>
              <p:cNvSpPr/>
              <p:nvPr/>
            </p:nvSpPr>
            <p:spPr>
              <a:xfrm>
                <a:off x="811616" y="3243649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4" name="Cube 243">
                <a:extLst>
                  <a:ext uri="{FF2B5EF4-FFF2-40B4-BE49-F238E27FC236}">
                    <a16:creationId xmlns:a16="http://schemas.microsoft.com/office/drawing/2014/main" id="{A1E97B22-193D-E3B7-3CD0-5BAA41AF6EAE}"/>
                  </a:ext>
                </a:extLst>
              </p:cNvPr>
              <p:cNvSpPr/>
              <p:nvPr/>
            </p:nvSpPr>
            <p:spPr>
              <a:xfrm>
                <a:off x="177794" y="3323968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5" name="Cube 244">
                <a:extLst>
                  <a:ext uri="{FF2B5EF4-FFF2-40B4-BE49-F238E27FC236}">
                    <a16:creationId xmlns:a16="http://schemas.microsoft.com/office/drawing/2014/main" id="{9867FB8E-6FEB-D7FD-1ACC-DC7E3792E572}"/>
                  </a:ext>
                </a:extLst>
              </p:cNvPr>
              <p:cNvSpPr/>
              <p:nvPr/>
            </p:nvSpPr>
            <p:spPr>
              <a:xfrm>
                <a:off x="458368" y="3323968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6" name="Cube 245">
                <a:extLst>
                  <a:ext uri="{FF2B5EF4-FFF2-40B4-BE49-F238E27FC236}">
                    <a16:creationId xmlns:a16="http://schemas.microsoft.com/office/drawing/2014/main" id="{883E4FFF-EFE6-8F09-F85D-0414476E71B1}"/>
                  </a:ext>
                </a:extLst>
              </p:cNvPr>
              <p:cNvSpPr/>
              <p:nvPr/>
            </p:nvSpPr>
            <p:spPr>
              <a:xfrm>
                <a:off x="737090" y="3323968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7" name="Cube 246">
                <a:extLst>
                  <a:ext uri="{FF2B5EF4-FFF2-40B4-BE49-F238E27FC236}">
                    <a16:creationId xmlns:a16="http://schemas.microsoft.com/office/drawing/2014/main" id="{3DA69C0A-F4BE-04FA-D000-B78620C600C0}"/>
                  </a:ext>
                </a:extLst>
              </p:cNvPr>
              <p:cNvSpPr/>
              <p:nvPr/>
            </p:nvSpPr>
            <p:spPr>
              <a:xfrm>
                <a:off x="1164533" y="3164475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8" name="Cube 247">
                <a:extLst>
                  <a:ext uri="{FF2B5EF4-FFF2-40B4-BE49-F238E27FC236}">
                    <a16:creationId xmlns:a16="http://schemas.microsoft.com/office/drawing/2014/main" id="{54A62FE5-4F64-B42E-B1AF-22F1C89B859C}"/>
                  </a:ext>
                </a:extLst>
              </p:cNvPr>
              <p:cNvSpPr/>
              <p:nvPr/>
            </p:nvSpPr>
            <p:spPr>
              <a:xfrm>
                <a:off x="1087767" y="3251669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49" name="Cube 248">
                <a:extLst>
                  <a:ext uri="{FF2B5EF4-FFF2-40B4-BE49-F238E27FC236}">
                    <a16:creationId xmlns:a16="http://schemas.microsoft.com/office/drawing/2014/main" id="{89106EEE-E186-2572-B151-9EF23A7ECB0C}"/>
                  </a:ext>
                </a:extLst>
              </p:cNvPr>
              <p:cNvSpPr/>
              <p:nvPr/>
            </p:nvSpPr>
            <p:spPr>
              <a:xfrm>
                <a:off x="1013241" y="3325113"/>
                <a:ext cx="370702" cy="370702"/>
              </a:xfrm>
              <a:prstGeom prst="cub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2F86B98E-4E02-E4F0-5F1E-6543E20D8699}"/>
                </a:ext>
              </a:extLst>
            </p:cNvPr>
            <p:cNvGrpSpPr/>
            <p:nvPr/>
          </p:nvGrpSpPr>
          <p:grpSpPr>
            <a:xfrm>
              <a:off x="7824191" y="5098331"/>
              <a:ext cx="1357441" cy="532485"/>
              <a:chOff x="177794" y="3163330"/>
              <a:chExt cx="1357441" cy="532485"/>
            </a:xfrm>
            <a:solidFill>
              <a:srgbClr val="FF00FF"/>
            </a:solidFill>
          </p:grpSpPr>
          <p:sp>
            <p:nvSpPr>
              <p:cNvPr id="251" name="Cube 250">
                <a:extLst>
                  <a:ext uri="{FF2B5EF4-FFF2-40B4-BE49-F238E27FC236}">
                    <a16:creationId xmlns:a16="http://schemas.microsoft.com/office/drawing/2014/main" id="{B3E8B8A3-C090-360F-8767-E06F36583F3C}"/>
                  </a:ext>
                </a:extLst>
              </p:cNvPr>
              <p:cNvSpPr/>
              <p:nvPr/>
            </p:nvSpPr>
            <p:spPr>
              <a:xfrm>
                <a:off x="344688" y="3163330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52" name="Cube 251">
                <a:extLst>
                  <a:ext uri="{FF2B5EF4-FFF2-40B4-BE49-F238E27FC236}">
                    <a16:creationId xmlns:a16="http://schemas.microsoft.com/office/drawing/2014/main" id="{7B853F4C-389E-F738-7C94-918C852F0759}"/>
                  </a:ext>
                </a:extLst>
              </p:cNvPr>
              <p:cNvSpPr/>
              <p:nvPr/>
            </p:nvSpPr>
            <p:spPr>
              <a:xfrm>
                <a:off x="616535" y="3163330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53" name="Cube 252">
                <a:extLst>
                  <a:ext uri="{FF2B5EF4-FFF2-40B4-BE49-F238E27FC236}">
                    <a16:creationId xmlns:a16="http://schemas.microsoft.com/office/drawing/2014/main" id="{6A17760F-AEF3-892B-0936-EC1B513B47A5}"/>
                  </a:ext>
                </a:extLst>
              </p:cNvPr>
              <p:cNvSpPr/>
              <p:nvPr/>
            </p:nvSpPr>
            <p:spPr>
              <a:xfrm>
                <a:off x="888382" y="3163330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54" name="Cube 253">
                <a:extLst>
                  <a:ext uri="{FF2B5EF4-FFF2-40B4-BE49-F238E27FC236}">
                    <a16:creationId xmlns:a16="http://schemas.microsoft.com/office/drawing/2014/main" id="{12AB3D69-2D4D-35FA-2E55-C5677A3797C0}"/>
                  </a:ext>
                </a:extLst>
              </p:cNvPr>
              <p:cNvSpPr/>
              <p:nvPr/>
            </p:nvSpPr>
            <p:spPr>
              <a:xfrm>
                <a:off x="261435" y="3243649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55" name="Cube 254">
                <a:extLst>
                  <a:ext uri="{FF2B5EF4-FFF2-40B4-BE49-F238E27FC236}">
                    <a16:creationId xmlns:a16="http://schemas.microsoft.com/office/drawing/2014/main" id="{206F1A56-4079-91C1-EBF7-2C3E94570070}"/>
                  </a:ext>
                </a:extLst>
              </p:cNvPr>
              <p:cNvSpPr/>
              <p:nvPr/>
            </p:nvSpPr>
            <p:spPr>
              <a:xfrm>
                <a:off x="533282" y="3243649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4F48A1DF-405D-017B-2F5C-79AD5964BBA8}"/>
                  </a:ext>
                </a:extLst>
              </p:cNvPr>
              <p:cNvSpPr/>
              <p:nvPr/>
            </p:nvSpPr>
            <p:spPr>
              <a:xfrm>
                <a:off x="811616" y="3243649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EAC04822-8ADF-4386-5547-0F4676065CFE}"/>
                  </a:ext>
                </a:extLst>
              </p:cNvPr>
              <p:cNvSpPr/>
              <p:nvPr/>
            </p:nvSpPr>
            <p:spPr>
              <a:xfrm>
                <a:off x="177794" y="3323968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7E29390A-B101-FCFE-ACD9-D4823F16AFBC}"/>
                  </a:ext>
                </a:extLst>
              </p:cNvPr>
              <p:cNvSpPr/>
              <p:nvPr/>
            </p:nvSpPr>
            <p:spPr>
              <a:xfrm>
                <a:off x="458368" y="3323968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0D4B48D6-2DF7-AF2B-B569-FF9BB92CCB27}"/>
                  </a:ext>
                </a:extLst>
              </p:cNvPr>
              <p:cNvSpPr/>
              <p:nvPr/>
            </p:nvSpPr>
            <p:spPr>
              <a:xfrm>
                <a:off x="737090" y="3323968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6DAB9112-490F-3EC1-E0F1-4D57F9236652}"/>
                  </a:ext>
                </a:extLst>
              </p:cNvPr>
              <p:cNvSpPr/>
              <p:nvPr/>
            </p:nvSpPr>
            <p:spPr>
              <a:xfrm>
                <a:off x="1164533" y="3164475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EE689643-1205-4A30-CA26-2FFFE62F22FA}"/>
                  </a:ext>
                </a:extLst>
              </p:cNvPr>
              <p:cNvSpPr/>
              <p:nvPr/>
            </p:nvSpPr>
            <p:spPr>
              <a:xfrm>
                <a:off x="1087767" y="3251669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3CF6AC98-E7BB-9B3D-3940-A38209173E76}"/>
                  </a:ext>
                </a:extLst>
              </p:cNvPr>
              <p:cNvSpPr/>
              <p:nvPr/>
            </p:nvSpPr>
            <p:spPr>
              <a:xfrm>
                <a:off x="1013241" y="3325113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40494867-B54E-8BCD-8B2E-9697B21E419D}"/>
                </a:ext>
              </a:extLst>
            </p:cNvPr>
            <p:cNvGrpSpPr/>
            <p:nvPr/>
          </p:nvGrpSpPr>
          <p:grpSpPr>
            <a:xfrm>
              <a:off x="7825078" y="4737152"/>
              <a:ext cx="1357441" cy="532485"/>
              <a:chOff x="177794" y="3163330"/>
              <a:chExt cx="1357441" cy="532485"/>
            </a:xfrm>
            <a:solidFill>
              <a:srgbClr val="FFFF00"/>
            </a:solidFill>
          </p:grpSpPr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F35EC3C7-219C-6374-6AC6-8498F7A22DF2}"/>
                  </a:ext>
                </a:extLst>
              </p:cNvPr>
              <p:cNvSpPr/>
              <p:nvPr/>
            </p:nvSpPr>
            <p:spPr>
              <a:xfrm>
                <a:off x="344688" y="3163330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F9658BEC-CA8C-280B-B94B-93BF5A606BBF}"/>
                  </a:ext>
                </a:extLst>
              </p:cNvPr>
              <p:cNvSpPr/>
              <p:nvPr/>
            </p:nvSpPr>
            <p:spPr>
              <a:xfrm>
                <a:off x="616535" y="3163330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36AF560D-C19C-AA13-C56A-763ED1DB257D}"/>
                  </a:ext>
                </a:extLst>
              </p:cNvPr>
              <p:cNvSpPr/>
              <p:nvPr/>
            </p:nvSpPr>
            <p:spPr>
              <a:xfrm>
                <a:off x="888382" y="3163330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87D3DC06-CE4B-E125-8350-A8D7DD070354}"/>
                  </a:ext>
                </a:extLst>
              </p:cNvPr>
              <p:cNvSpPr/>
              <p:nvPr/>
            </p:nvSpPr>
            <p:spPr>
              <a:xfrm>
                <a:off x="261435" y="3243649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96FBDD2C-63B2-FA22-2C7E-AEB189817E5B}"/>
                  </a:ext>
                </a:extLst>
              </p:cNvPr>
              <p:cNvSpPr/>
              <p:nvPr/>
            </p:nvSpPr>
            <p:spPr>
              <a:xfrm>
                <a:off x="533282" y="3243649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5CD4DB09-654D-FBC4-07AA-3B5F4C691CB7}"/>
                  </a:ext>
                </a:extLst>
              </p:cNvPr>
              <p:cNvSpPr/>
              <p:nvPr/>
            </p:nvSpPr>
            <p:spPr>
              <a:xfrm>
                <a:off x="811616" y="3243649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A7025712-DD97-D100-540C-AD36857D43AD}"/>
                  </a:ext>
                </a:extLst>
              </p:cNvPr>
              <p:cNvSpPr/>
              <p:nvPr/>
            </p:nvSpPr>
            <p:spPr>
              <a:xfrm>
                <a:off x="177794" y="3323968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68B2B86E-10D7-79B3-98C0-EA19940903C5}"/>
                  </a:ext>
                </a:extLst>
              </p:cNvPr>
              <p:cNvSpPr/>
              <p:nvPr/>
            </p:nvSpPr>
            <p:spPr>
              <a:xfrm>
                <a:off x="458368" y="3323968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09AA5B9C-612A-8F14-2747-D5DEA245B9E6}"/>
                  </a:ext>
                </a:extLst>
              </p:cNvPr>
              <p:cNvSpPr/>
              <p:nvPr/>
            </p:nvSpPr>
            <p:spPr>
              <a:xfrm>
                <a:off x="737090" y="3323968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DD378668-E275-8F7C-14B4-D43EC1DC0F3B}"/>
                  </a:ext>
                </a:extLst>
              </p:cNvPr>
              <p:cNvSpPr/>
              <p:nvPr/>
            </p:nvSpPr>
            <p:spPr>
              <a:xfrm>
                <a:off x="1164533" y="3164475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85495FC5-5C48-2765-39EF-E346929241DB}"/>
                  </a:ext>
                </a:extLst>
              </p:cNvPr>
              <p:cNvSpPr/>
              <p:nvPr/>
            </p:nvSpPr>
            <p:spPr>
              <a:xfrm>
                <a:off x="1087767" y="3251669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8D26E3F9-D1F1-CECF-A223-46A42B773515}"/>
                  </a:ext>
                </a:extLst>
              </p:cNvPr>
              <p:cNvSpPr/>
              <p:nvPr/>
            </p:nvSpPr>
            <p:spPr>
              <a:xfrm>
                <a:off x="1013241" y="3325113"/>
                <a:ext cx="370702" cy="370702"/>
              </a:xfrm>
              <a:prstGeom prst="cube">
                <a:avLst/>
              </a:prstGeom>
              <a:grpFill/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ADDC9FB5-513D-CC3B-5725-072483F00B86}"/>
                </a:ext>
              </a:extLst>
            </p:cNvPr>
            <p:cNvGrpSpPr/>
            <p:nvPr/>
          </p:nvGrpSpPr>
          <p:grpSpPr>
            <a:xfrm>
              <a:off x="7484753" y="4545598"/>
              <a:ext cx="1409499" cy="1906085"/>
              <a:chOff x="840196" y="3664896"/>
              <a:chExt cx="1409499" cy="1906085"/>
            </a:xfrm>
          </p:grpSpPr>
          <p:cxnSp>
            <p:nvCxnSpPr>
              <p:cNvPr id="278" name="Straight Arrow Connector 277">
                <a:extLst>
                  <a:ext uri="{FF2B5EF4-FFF2-40B4-BE49-F238E27FC236}">
                    <a16:creationId xmlns:a16="http://schemas.microsoft.com/office/drawing/2014/main" id="{42356330-65C4-9822-E5D9-55DFDEEB8A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54371" y="5220084"/>
                <a:ext cx="109532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9" name="TextBox 278">
                <a:extLst>
                  <a:ext uri="{FF2B5EF4-FFF2-40B4-BE49-F238E27FC236}">
                    <a16:creationId xmlns:a16="http://schemas.microsoft.com/office/drawing/2014/main" id="{D53B3E84-8367-2FD5-3F76-8B75145007B4}"/>
                  </a:ext>
                </a:extLst>
              </p:cNvPr>
              <p:cNvSpPr txBox="1"/>
              <p:nvPr/>
            </p:nvSpPr>
            <p:spPr>
              <a:xfrm>
                <a:off x="1640031" y="5201649"/>
                <a:ext cx="3048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DE" dirty="0"/>
                  <a:t>X</a:t>
                </a:r>
              </a:p>
            </p:txBody>
          </p:sp>
          <p:cxnSp>
            <p:nvCxnSpPr>
              <p:cNvPr id="280" name="Straight Arrow Connector 279">
                <a:extLst>
                  <a:ext uri="{FF2B5EF4-FFF2-40B4-BE49-F238E27FC236}">
                    <a16:creationId xmlns:a16="http://schemas.microsoft.com/office/drawing/2014/main" id="{79A3F3D8-0358-8D89-C291-5204A9F992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4805" y="3754633"/>
                <a:ext cx="316681" cy="34256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5DDD66A0-5A25-365F-C64C-7C7C1E3900E7}"/>
                  </a:ext>
                </a:extLst>
              </p:cNvPr>
              <p:cNvSpPr txBox="1"/>
              <p:nvPr/>
            </p:nvSpPr>
            <p:spPr>
              <a:xfrm>
                <a:off x="990581" y="3664896"/>
                <a:ext cx="3048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DE" dirty="0"/>
                  <a:t>Y</a:t>
                </a:r>
              </a:p>
            </p:txBody>
          </p:sp>
          <p:cxnSp>
            <p:nvCxnSpPr>
              <p:cNvPr id="282" name="Straight Arrow Connector 281">
                <a:extLst>
                  <a:ext uri="{FF2B5EF4-FFF2-40B4-BE49-F238E27FC236}">
                    <a16:creationId xmlns:a16="http://schemas.microsoft.com/office/drawing/2014/main" id="{B403E6BE-7D3A-CF0D-D4F8-2D450324DF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2474" y="4166181"/>
                <a:ext cx="0" cy="94084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D03D1CB9-1CBB-A920-19E1-DF01B43F0B29}"/>
                  </a:ext>
                </a:extLst>
              </p:cNvPr>
              <p:cNvSpPr txBox="1"/>
              <p:nvPr/>
            </p:nvSpPr>
            <p:spPr>
              <a:xfrm>
                <a:off x="840196" y="4451935"/>
                <a:ext cx="308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DE" dirty="0"/>
                  <a:t>C</a:t>
                </a: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8B09E75-9D7A-AC3C-6A04-4FDEDCE94351}"/>
              </a:ext>
            </a:extLst>
          </p:cNvPr>
          <p:cNvSpPr txBox="1">
            <a:spLocks/>
          </p:cNvSpPr>
          <p:nvPr/>
        </p:nvSpPr>
        <p:spPr>
          <a:xfrm>
            <a:off x="252531" y="349448"/>
            <a:ext cx="3668444" cy="296969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dirty="0"/>
              <a:t>Multi-channel </a:t>
            </a:r>
            <a:br>
              <a:rPr lang="en-DE" dirty="0"/>
            </a:br>
            <a:r>
              <a:rPr lang="en-DE" dirty="0"/>
              <a:t>images</a:t>
            </a:r>
          </a:p>
        </p:txBody>
      </p:sp>
    </p:spTree>
    <p:extLst>
      <p:ext uri="{BB962C8B-B14F-4D97-AF65-F5344CB8AC3E}">
        <p14:creationId xmlns:p14="http://schemas.microsoft.com/office/powerpoint/2010/main" val="3163442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518EB-C2CF-F999-A1A5-181F5AD20433}"/>
              </a:ext>
            </a:extLst>
          </p:cNvPr>
          <p:cNvSpPr txBox="1">
            <a:spLocks/>
          </p:cNvSpPr>
          <p:nvPr/>
        </p:nvSpPr>
        <p:spPr>
          <a:xfrm>
            <a:off x="252531" y="349448"/>
            <a:ext cx="11172214" cy="296969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DE" dirty="0"/>
              <a:t>Volumetric images</a:t>
            </a:r>
          </a:p>
        </p:txBody>
      </p:sp>
    </p:spTree>
    <p:extLst>
      <p:ext uri="{BB962C8B-B14F-4D97-AF65-F5344CB8AC3E}">
        <p14:creationId xmlns:p14="http://schemas.microsoft.com/office/powerpoint/2010/main" val="3660676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BD156-D752-3642-8FA3-63962D706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449637"/>
          </a:xfrm>
        </p:spPr>
        <p:txBody>
          <a:bodyPr/>
          <a:lstStyle/>
          <a:p>
            <a:r>
              <a:rPr lang="de-DE" dirty="0"/>
              <a:t>OME-TIFF </a:t>
            </a:r>
            <a:r>
              <a:rPr lang="de-DE" dirty="0" err="1"/>
              <a:t>specification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/>
              <a:t>XYZCT </a:t>
            </a:r>
            <a:r>
              <a:rPr lang="de-DE" dirty="0" err="1"/>
              <a:t>image</a:t>
            </a:r>
            <a:r>
              <a:rPr lang="de-DE" dirty="0"/>
              <a:t> </a:t>
            </a:r>
            <a:r>
              <a:rPr lang="de-DE" dirty="0" err="1"/>
              <a:t>series</a:t>
            </a:r>
            <a:endParaRPr lang="de-DE" dirty="0"/>
          </a:p>
        </p:txBody>
      </p:sp>
      <p:pic>
        <p:nvPicPr>
          <p:cNvPr id="4102" name="Picture 6" descr="OME Artwork | Open Microscopy Environment (OME)">
            <a:extLst>
              <a:ext uri="{FF2B5EF4-FFF2-40B4-BE49-F238E27FC236}">
                <a16:creationId xmlns:a16="http://schemas.microsoft.com/office/drawing/2014/main" id="{7E7CBF43-9AA3-52AA-44A3-DD98CDCA92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3128" y="576318"/>
            <a:ext cx="3429000" cy="18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0592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ED9775-8AEB-4D01-4DA3-35C5FB7E9C0A}"/>
              </a:ext>
            </a:extLst>
          </p:cNvPr>
          <p:cNvGraphicFramePr>
            <a:graphicFrameLocks noGrp="1"/>
          </p:cNvGraphicFramePr>
          <p:nvPr/>
        </p:nvGraphicFramePr>
        <p:xfrm>
          <a:off x="1404503" y="1048348"/>
          <a:ext cx="787020" cy="793794"/>
        </p:xfrm>
        <a:graphic>
          <a:graphicData uri="http://schemas.openxmlformats.org/drawingml/2006/table">
            <a:tbl>
              <a:tblPr/>
              <a:tblGrid>
                <a:gridCol w="131170">
                  <a:extLst>
                    <a:ext uri="{9D8B030D-6E8A-4147-A177-3AD203B41FA5}">
                      <a16:colId xmlns:a16="http://schemas.microsoft.com/office/drawing/2014/main" val="520751035"/>
                    </a:ext>
                  </a:extLst>
                </a:gridCol>
                <a:gridCol w="131170">
                  <a:extLst>
                    <a:ext uri="{9D8B030D-6E8A-4147-A177-3AD203B41FA5}">
                      <a16:colId xmlns:a16="http://schemas.microsoft.com/office/drawing/2014/main" val="162460214"/>
                    </a:ext>
                  </a:extLst>
                </a:gridCol>
                <a:gridCol w="131170">
                  <a:extLst>
                    <a:ext uri="{9D8B030D-6E8A-4147-A177-3AD203B41FA5}">
                      <a16:colId xmlns:a16="http://schemas.microsoft.com/office/drawing/2014/main" val="3565137725"/>
                    </a:ext>
                  </a:extLst>
                </a:gridCol>
                <a:gridCol w="131170">
                  <a:extLst>
                    <a:ext uri="{9D8B030D-6E8A-4147-A177-3AD203B41FA5}">
                      <a16:colId xmlns:a16="http://schemas.microsoft.com/office/drawing/2014/main" val="1938937240"/>
                    </a:ext>
                  </a:extLst>
                </a:gridCol>
                <a:gridCol w="131170">
                  <a:extLst>
                    <a:ext uri="{9D8B030D-6E8A-4147-A177-3AD203B41FA5}">
                      <a16:colId xmlns:a16="http://schemas.microsoft.com/office/drawing/2014/main" val="1031040740"/>
                    </a:ext>
                  </a:extLst>
                </a:gridCol>
                <a:gridCol w="131170">
                  <a:extLst>
                    <a:ext uri="{9D8B030D-6E8A-4147-A177-3AD203B41FA5}">
                      <a16:colId xmlns:a16="http://schemas.microsoft.com/office/drawing/2014/main" val="3881649973"/>
                    </a:ext>
                  </a:extLst>
                </a:gridCol>
              </a:tblGrid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059969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651988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121677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272598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330748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3801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119E2F2-9362-C8B7-4781-E17895FE86AA}"/>
              </a:ext>
            </a:extLst>
          </p:cNvPr>
          <p:cNvSpPr txBox="1"/>
          <p:nvPr/>
        </p:nvSpPr>
        <p:spPr>
          <a:xfrm>
            <a:off x="23853" y="397682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101010110</a:t>
            </a:r>
            <a:r>
              <a:rPr lang="en-DE" sz="1200" dirty="0">
                <a:highlight>
                  <a:srgbClr val="008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0000</a:t>
            </a:r>
            <a:r>
              <a:rPr lang="en-DE" sz="1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000001000000</a:t>
            </a:r>
            <a:r>
              <a:rPr lang="en-DE" sz="1200" dirty="0">
                <a:highlight>
                  <a:srgbClr val="008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00010</a:t>
            </a:r>
            <a:r>
              <a:rPr lang="en-DE" sz="1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001010000101</a:t>
            </a:r>
            <a:r>
              <a:rPr lang="en-DE" sz="1200" dirty="0">
                <a:highlight>
                  <a:srgbClr val="008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0000</a:t>
            </a:r>
            <a:r>
              <a:rPr lang="en-DE" sz="1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001010001001</a:t>
            </a:r>
            <a:r>
              <a:rPr lang="en-DE" sz="1200" dirty="0">
                <a:highlight>
                  <a:srgbClr val="008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0000</a:t>
            </a:r>
            <a:r>
              <a:rPr lang="en-DE" sz="1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010001010100</a:t>
            </a:r>
            <a:r>
              <a:rPr lang="en-DE" sz="1200" dirty="0">
                <a:highlight>
                  <a:srgbClr val="008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0001</a:t>
            </a:r>
            <a:r>
              <a:rPr lang="en-DE" sz="1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001000101100001101</a:t>
            </a:r>
            <a:r>
              <a:rPr lang="en-DE" sz="1200" dirty="0">
                <a:highlight>
                  <a:srgbClr val="008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0000</a:t>
            </a:r>
            <a:r>
              <a:rPr lang="en-DE" sz="12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010010010110000110</a:t>
            </a:r>
            <a:r>
              <a:rPr lang="en-DE" sz="12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001001011000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2E268F7-3CED-B49F-898D-263650964A73}"/>
              </a:ext>
            </a:extLst>
          </p:cNvPr>
          <p:cNvGraphicFramePr>
            <a:graphicFrameLocks noGrp="1"/>
          </p:cNvGraphicFramePr>
          <p:nvPr/>
        </p:nvGraphicFramePr>
        <p:xfrm>
          <a:off x="3000230" y="1048348"/>
          <a:ext cx="787020" cy="793794"/>
        </p:xfrm>
        <a:graphic>
          <a:graphicData uri="http://schemas.openxmlformats.org/drawingml/2006/table">
            <a:tbl>
              <a:tblPr/>
              <a:tblGrid>
                <a:gridCol w="131170">
                  <a:extLst>
                    <a:ext uri="{9D8B030D-6E8A-4147-A177-3AD203B41FA5}">
                      <a16:colId xmlns:a16="http://schemas.microsoft.com/office/drawing/2014/main" val="520751035"/>
                    </a:ext>
                  </a:extLst>
                </a:gridCol>
                <a:gridCol w="131170">
                  <a:extLst>
                    <a:ext uri="{9D8B030D-6E8A-4147-A177-3AD203B41FA5}">
                      <a16:colId xmlns:a16="http://schemas.microsoft.com/office/drawing/2014/main" val="162460214"/>
                    </a:ext>
                  </a:extLst>
                </a:gridCol>
                <a:gridCol w="131170">
                  <a:extLst>
                    <a:ext uri="{9D8B030D-6E8A-4147-A177-3AD203B41FA5}">
                      <a16:colId xmlns:a16="http://schemas.microsoft.com/office/drawing/2014/main" val="3565137725"/>
                    </a:ext>
                  </a:extLst>
                </a:gridCol>
                <a:gridCol w="131170">
                  <a:extLst>
                    <a:ext uri="{9D8B030D-6E8A-4147-A177-3AD203B41FA5}">
                      <a16:colId xmlns:a16="http://schemas.microsoft.com/office/drawing/2014/main" val="1938937240"/>
                    </a:ext>
                  </a:extLst>
                </a:gridCol>
                <a:gridCol w="131170">
                  <a:extLst>
                    <a:ext uri="{9D8B030D-6E8A-4147-A177-3AD203B41FA5}">
                      <a16:colId xmlns:a16="http://schemas.microsoft.com/office/drawing/2014/main" val="1031040740"/>
                    </a:ext>
                  </a:extLst>
                </a:gridCol>
                <a:gridCol w="131170">
                  <a:extLst>
                    <a:ext uri="{9D8B030D-6E8A-4147-A177-3AD203B41FA5}">
                      <a16:colId xmlns:a16="http://schemas.microsoft.com/office/drawing/2014/main" val="3881649973"/>
                    </a:ext>
                  </a:extLst>
                </a:gridCol>
              </a:tblGrid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059969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651988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121677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272598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330748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38012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18F03EE-6241-A302-3224-6ED97D39FBC9}"/>
              </a:ext>
            </a:extLst>
          </p:cNvPr>
          <p:cNvGraphicFramePr>
            <a:graphicFrameLocks noGrp="1"/>
          </p:cNvGraphicFramePr>
          <p:nvPr/>
        </p:nvGraphicFramePr>
        <p:xfrm>
          <a:off x="4535998" y="1048348"/>
          <a:ext cx="773490" cy="793794"/>
        </p:xfrm>
        <a:graphic>
          <a:graphicData uri="http://schemas.openxmlformats.org/drawingml/2006/table">
            <a:tbl>
              <a:tblPr/>
              <a:tblGrid>
                <a:gridCol w="128915">
                  <a:extLst>
                    <a:ext uri="{9D8B030D-6E8A-4147-A177-3AD203B41FA5}">
                      <a16:colId xmlns:a16="http://schemas.microsoft.com/office/drawing/2014/main" val="520751035"/>
                    </a:ext>
                  </a:extLst>
                </a:gridCol>
                <a:gridCol w="128915">
                  <a:extLst>
                    <a:ext uri="{9D8B030D-6E8A-4147-A177-3AD203B41FA5}">
                      <a16:colId xmlns:a16="http://schemas.microsoft.com/office/drawing/2014/main" val="162460214"/>
                    </a:ext>
                  </a:extLst>
                </a:gridCol>
                <a:gridCol w="128915">
                  <a:extLst>
                    <a:ext uri="{9D8B030D-6E8A-4147-A177-3AD203B41FA5}">
                      <a16:colId xmlns:a16="http://schemas.microsoft.com/office/drawing/2014/main" val="3565137725"/>
                    </a:ext>
                  </a:extLst>
                </a:gridCol>
                <a:gridCol w="128915">
                  <a:extLst>
                    <a:ext uri="{9D8B030D-6E8A-4147-A177-3AD203B41FA5}">
                      <a16:colId xmlns:a16="http://schemas.microsoft.com/office/drawing/2014/main" val="1938937240"/>
                    </a:ext>
                  </a:extLst>
                </a:gridCol>
                <a:gridCol w="128915">
                  <a:extLst>
                    <a:ext uri="{9D8B030D-6E8A-4147-A177-3AD203B41FA5}">
                      <a16:colId xmlns:a16="http://schemas.microsoft.com/office/drawing/2014/main" val="1031040740"/>
                    </a:ext>
                  </a:extLst>
                </a:gridCol>
                <a:gridCol w="128915">
                  <a:extLst>
                    <a:ext uri="{9D8B030D-6E8A-4147-A177-3AD203B41FA5}">
                      <a16:colId xmlns:a16="http://schemas.microsoft.com/office/drawing/2014/main" val="3881649973"/>
                    </a:ext>
                  </a:extLst>
                </a:gridCol>
              </a:tblGrid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059969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651988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121677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272598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330748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38012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2121396-7454-1C76-8DAD-C805FC8CBCA8}"/>
              </a:ext>
            </a:extLst>
          </p:cNvPr>
          <p:cNvGraphicFramePr>
            <a:graphicFrameLocks noGrp="1"/>
          </p:cNvGraphicFramePr>
          <p:nvPr/>
        </p:nvGraphicFramePr>
        <p:xfrm>
          <a:off x="5876522" y="1048348"/>
          <a:ext cx="774504" cy="793794"/>
        </p:xfrm>
        <a:graphic>
          <a:graphicData uri="http://schemas.openxmlformats.org/drawingml/2006/table">
            <a:tbl>
              <a:tblPr/>
              <a:tblGrid>
                <a:gridCol w="129084">
                  <a:extLst>
                    <a:ext uri="{9D8B030D-6E8A-4147-A177-3AD203B41FA5}">
                      <a16:colId xmlns:a16="http://schemas.microsoft.com/office/drawing/2014/main" val="520751035"/>
                    </a:ext>
                  </a:extLst>
                </a:gridCol>
                <a:gridCol w="129084">
                  <a:extLst>
                    <a:ext uri="{9D8B030D-6E8A-4147-A177-3AD203B41FA5}">
                      <a16:colId xmlns:a16="http://schemas.microsoft.com/office/drawing/2014/main" val="162460214"/>
                    </a:ext>
                  </a:extLst>
                </a:gridCol>
                <a:gridCol w="129084">
                  <a:extLst>
                    <a:ext uri="{9D8B030D-6E8A-4147-A177-3AD203B41FA5}">
                      <a16:colId xmlns:a16="http://schemas.microsoft.com/office/drawing/2014/main" val="3565137725"/>
                    </a:ext>
                  </a:extLst>
                </a:gridCol>
                <a:gridCol w="129084">
                  <a:extLst>
                    <a:ext uri="{9D8B030D-6E8A-4147-A177-3AD203B41FA5}">
                      <a16:colId xmlns:a16="http://schemas.microsoft.com/office/drawing/2014/main" val="1938937240"/>
                    </a:ext>
                  </a:extLst>
                </a:gridCol>
                <a:gridCol w="129084">
                  <a:extLst>
                    <a:ext uri="{9D8B030D-6E8A-4147-A177-3AD203B41FA5}">
                      <a16:colId xmlns:a16="http://schemas.microsoft.com/office/drawing/2014/main" val="1031040740"/>
                    </a:ext>
                  </a:extLst>
                </a:gridCol>
                <a:gridCol w="129084">
                  <a:extLst>
                    <a:ext uri="{9D8B030D-6E8A-4147-A177-3AD203B41FA5}">
                      <a16:colId xmlns:a16="http://schemas.microsoft.com/office/drawing/2014/main" val="3881649973"/>
                    </a:ext>
                  </a:extLst>
                </a:gridCol>
              </a:tblGrid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059969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651988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121677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272598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330748"/>
                  </a:ext>
                </a:extLst>
              </a:tr>
              <a:tr h="132299"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3546" marR="33546" marT="18450" marB="184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38012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60560DFF-09E7-1B44-3AB8-DA3EFC3FD581}"/>
              </a:ext>
            </a:extLst>
          </p:cNvPr>
          <p:cNvGraphicFramePr>
            <a:graphicFrameLocks noGrp="1"/>
          </p:cNvGraphicFramePr>
          <p:nvPr/>
        </p:nvGraphicFramePr>
        <p:xfrm>
          <a:off x="7158426" y="1048348"/>
          <a:ext cx="1864421" cy="1419228"/>
        </p:xfrm>
        <a:graphic>
          <a:graphicData uri="http://schemas.openxmlformats.org/drawingml/2006/table">
            <a:tbl>
              <a:tblPr/>
              <a:tblGrid>
                <a:gridCol w="143417">
                  <a:extLst>
                    <a:ext uri="{9D8B030D-6E8A-4147-A177-3AD203B41FA5}">
                      <a16:colId xmlns:a16="http://schemas.microsoft.com/office/drawing/2014/main" val="520751035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162460214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3565137725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1182770171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3782757639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1938937240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1031040740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924451402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3141037479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2846690789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2681643245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3201087526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3533881816"/>
                    </a:ext>
                  </a:extLst>
                </a:gridCol>
              </a:tblGrid>
              <a:tr h="157692"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059969"/>
                  </a:ext>
                </a:extLst>
              </a:tr>
              <a:tr h="157692"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651988"/>
                  </a:ext>
                </a:extLst>
              </a:tr>
              <a:tr h="157692"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121677"/>
                  </a:ext>
                </a:extLst>
              </a:tr>
              <a:tr h="157692"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272598"/>
                  </a:ext>
                </a:extLst>
              </a:tr>
              <a:tr h="157692"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392482"/>
                  </a:ext>
                </a:extLst>
              </a:tr>
              <a:tr h="157692"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310586"/>
                  </a:ext>
                </a:extLst>
              </a:tr>
              <a:tr h="157692"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597971"/>
                  </a:ext>
                </a:extLst>
              </a:tr>
              <a:tr h="157692"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330748"/>
                  </a:ext>
                </a:extLst>
              </a:tr>
              <a:tr h="157692"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38012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311EA9D8-B79D-0398-7E9A-F691F85F4919}"/>
              </a:ext>
            </a:extLst>
          </p:cNvPr>
          <p:cNvSpPr txBox="1"/>
          <p:nvPr/>
        </p:nvSpPr>
        <p:spPr>
          <a:xfrm>
            <a:off x="2494603" y="2902072"/>
            <a:ext cx="251862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ighlight>
                  <a:srgbClr val="0080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IFD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Pixel data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Width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Offset to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Offset to next IFD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endParaRPr lang="en-DE" sz="16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557F51-13DD-3C54-DCA8-C4845789B319}"/>
              </a:ext>
            </a:extLst>
          </p:cNvPr>
          <p:cNvSpPr txBox="1"/>
          <p:nvPr/>
        </p:nvSpPr>
        <p:spPr>
          <a:xfrm>
            <a:off x="7857437" y="2902072"/>
            <a:ext cx="339609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ighlight>
                  <a:srgbClr val="FF00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OME-XML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PixelPhysicalSize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Microscope settings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Plane 0:  S = 0, Z = 0, T = 0, C =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Plane 1:  S = 0, Z = 1, T = 0, C =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Plane 2:  S = 0, Z = 2, T = 0, C =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Plane 3:  S = 0, Z = 3, T = 0, C =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Plane 4:  S = 1, Z = 0, T = 0, C =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Plane 5:  S = 1, Z = 0, T = 0, C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 = Series: Planes belonging to the same “image” with same width, height and data type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04F3B0-3E2B-18BE-49FC-EF22A7AEA524}"/>
              </a:ext>
            </a:extLst>
          </p:cNvPr>
          <p:cNvSpPr txBox="1"/>
          <p:nvPr/>
        </p:nvSpPr>
        <p:spPr>
          <a:xfrm>
            <a:off x="350015" y="2902072"/>
            <a:ext cx="20828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TIFF header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Byte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Offset to first IFD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endParaRPr lang="en-DE" sz="1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F0406A-4C37-2E8A-1FDB-F40C10D413C6}"/>
              </a:ext>
            </a:extLst>
          </p:cNvPr>
          <p:cNvGraphicFramePr>
            <a:graphicFrameLocks noGrp="1"/>
          </p:cNvGraphicFramePr>
          <p:nvPr/>
        </p:nvGraphicFramePr>
        <p:xfrm>
          <a:off x="9268834" y="1048348"/>
          <a:ext cx="1864421" cy="1419228"/>
        </p:xfrm>
        <a:graphic>
          <a:graphicData uri="http://schemas.openxmlformats.org/drawingml/2006/table">
            <a:tbl>
              <a:tblPr/>
              <a:tblGrid>
                <a:gridCol w="143417">
                  <a:extLst>
                    <a:ext uri="{9D8B030D-6E8A-4147-A177-3AD203B41FA5}">
                      <a16:colId xmlns:a16="http://schemas.microsoft.com/office/drawing/2014/main" val="520751035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162460214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3565137725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1182770171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3782757639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1938937240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1031040740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924451402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3141037479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2846690789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2681643245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3201087526"/>
                    </a:ext>
                  </a:extLst>
                </a:gridCol>
                <a:gridCol w="143417">
                  <a:extLst>
                    <a:ext uri="{9D8B030D-6E8A-4147-A177-3AD203B41FA5}">
                      <a16:colId xmlns:a16="http://schemas.microsoft.com/office/drawing/2014/main" val="3533881816"/>
                    </a:ext>
                  </a:extLst>
                </a:gridCol>
              </a:tblGrid>
              <a:tr h="157692"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059969"/>
                  </a:ext>
                </a:extLst>
              </a:tr>
              <a:tr h="157692"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651988"/>
                  </a:ext>
                </a:extLst>
              </a:tr>
              <a:tr h="157692"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121677"/>
                  </a:ext>
                </a:extLst>
              </a:tr>
              <a:tr h="157692"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3272598"/>
                  </a:ext>
                </a:extLst>
              </a:tr>
              <a:tr h="157692"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0392482"/>
                  </a:ext>
                </a:extLst>
              </a:tr>
              <a:tr h="157692"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310586"/>
                  </a:ext>
                </a:extLst>
              </a:tr>
              <a:tr h="157692"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597971"/>
                  </a:ext>
                </a:extLst>
              </a:tr>
              <a:tr h="157692"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330748"/>
                  </a:ext>
                </a:extLst>
              </a:tr>
              <a:tr h="157692"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7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39819" marR="39819" marT="21900" marB="21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380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3EFAC2C-BBD9-0E01-5E46-EE7D997F5838}"/>
              </a:ext>
            </a:extLst>
          </p:cNvPr>
          <p:cNvSpPr txBox="1"/>
          <p:nvPr/>
        </p:nvSpPr>
        <p:spPr>
          <a:xfrm>
            <a:off x="4875625" y="2902072"/>
            <a:ext cx="25186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One plane of pixel data</a:t>
            </a:r>
          </a:p>
          <a:p>
            <a:endParaRPr lang="en-DE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83B539-5AC6-A14F-06E4-9E3271D7DC5D}"/>
              </a:ext>
            </a:extLst>
          </p:cNvPr>
          <p:cNvSpPr txBox="1"/>
          <p:nvPr/>
        </p:nvSpPr>
        <p:spPr>
          <a:xfrm>
            <a:off x="731368" y="5254664"/>
            <a:ext cx="61117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4400" dirty="0"/>
              <a:t>OME-TIFF</a:t>
            </a:r>
            <a:endParaRPr lang="en-DE" sz="4400" dirty="0"/>
          </a:p>
        </p:txBody>
      </p:sp>
    </p:spTree>
    <p:extLst>
      <p:ext uri="{BB962C8B-B14F-4D97-AF65-F5344CB8AC3E}">
        <p14:creationId xmlns:p14="http://schemas.microsoft.com/office/powerpoint/2010/main" val="687538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6B7B8-A95B-1A6A-B521-446DE9C0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DE" dirty="0"/>
              <a:t>Big image data 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09E9D-2AC1-BF71-4621-01956DDC3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0494138" cy="1017381"/>
          </a:xfrm>
        </p:spPr>
        <p:txBody>
          <a:bodyPr>
            <a:normAutofit/>
          </a:bodyPr>
          <a:lstStyle/>
          <a:p>
            <a:pPr marL="152396" indent="0">
              <a:buNone/>
            </a:pPr>
            <a:r>
              <a:rPr lang="en-DE" dirty="0"/>
              <a:t>Example: A 8 TB volume EM dataset cannot be loaded into your computer’s memory (and if it could it would take a lot of time)</a:t>
            </a:r>
          </a:p>
        </p:txBody>
      </p:sp>
      <p:pic>
        <p:nvPicPr>
          <p:cNvPr id="4" name="Google Shape;56;p13">
            <a:extLst>
              <a:ext uri="{FF2B5EF4-FFF2-40B4-BE49-F238E27FC236}">
                <a16:creationId xmlns:a16="http://schemas.microsoft.com/office/drawing/2014/main" id="{AC59B2B4-3566-A65A-90BC-9170AC313E9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7705" t="14045" r="7847" b="10365"/>
          <a:stretch/>
        </p:blipFill>
        <p:spPr>
          <a:xfrm>
            <a:off x="302041" y="2733680"/>
            <a:ext cx="3592021" cy="321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61;p13">
            <a:extLst>
              <a:ext uri="{FF2B5EF4-FFF2-40B4-BE49-F238E27FC236}">
                <a16:creationId xmlns:a16="http://schemas.microsoft.com/office/drawing/2014/main" id="{20FAFB3C-1194-DC25-E87B-317EE21DF2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306" t="16438" r="7780" b="10407"/>
          <a:stretch/>
        </p:blipFill>
        <p:spPr>
          <a:xfrm>
            <a:off x="8123727" y="2733680"/>
            <a:ext cx="3629083" cy="3126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62;p13">
            <a:extLst>
              <a:ext uri="{FF2B5EF4-FFF2-40B4-BE49-F238E27FC236}">
                <a16:creationId xmlns:a16="http://schemas.microsoft.com/office/drawing/2014/main" id="{FEA14708-0ACA-EF4A-0705-6BE254F17A9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8669" t="16862" r="8623" b="11800"/>
          <a:stretch/>
        </p:blipFill>
        <p:spPr>
          <a:xfrm>
            <a:off x="4191014" y="2733680"/>
            <a:ext cx="3635761" cy="31263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8672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F0C4A-4EDF-FD6C-3F35-72314C717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E22A0DC-1833-7B83-3864-2A444A7A1D56}"/>
              </a:ext>
            </a:extLst>
          </p:cNvPr>
          <p:cNvGrpSpPr/>
          <p:nvPr/>
        </p:nvGrpSpPr>
        <p:grpSpPr>
          <a:xfrm>
            <a:off x="2099311" y="1629747"/>
            <a:ext cx="7848609" cy="4823604"/>
            <a:chOff x="1092565" y="448983"/>
            <a:chExt cx="6646220" cy="4084639"/>
          </a:xfrm>
        </p:grpSpPr>
        <p:pic>
          <p:nvPicPr>
            <p:cNvPr id="21" name="Google Shape;54;p13">
              <a:extLst>
                <a:ext uri="{FF2B5EF4-FFF2-40B4-BE49-F238E27FC236}">
                  <a16:creationId xmlns:a16="http://schemas.microsoft.com/office/drawing/2014/main" id="{982ACD0C-6A8E-9ECC-43B5-F1A234A0925A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92565" y="448983"/>
              <a:ext cx="2057398" cy="20574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56;p13">
              <a:extLst>
                <a:ext uri="{FF2B5EF4-FFF2-40B4-BE49-F238E27FC236}">
                  <a16:creationId xmlns:a16="http://schemas.microsoft.com/office/drawing/2014/main" id="{BCBE885B-08A8-B2F1-F5E5-9DFAB395414D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7705" t="14045" r="7847" b="10365"/>
            <a:stretch/>
          </p:blipFill>
          <p:spPr>
            <a:xfrm>
              <a:off x="1092565" y="2692122"/>
              <a:ext cx="2057398" cy="184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57;p13">
              <a:extLst>
                <a:ext uri="{FF2B5EF4-FFF2-40B4-BE49-F238E27FC236}">
                  <a16:creationId xmlns:a16="http://schemas.microsoft.com/office/drawing/2014/main" id="{6F14B58E-F610-825A-1B8F-0402219E0017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3398865" y="477905"/>
              <a:ext cx="2057398" cy="20574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" name="Google Shape;58;p13">
              <a:extLst>
                <a:ext uri="{FF2B5EF4-FFF2-40B4-BE49-F238E27FC236}">
                  <a16:creationId xmlns:a16="http://schemas.microsoft.com/office/drawing/2014/main" id="{F3234B3A-983D-F437-EBE5-C43D5C446979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92565" y="451205"/>
              <a:ext cx="2063218" cy="20574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59;p13">
              <a:extLst>
                <a:ext uri="{FF2B5EF4-FFF2-40B4-BE49-F238E27FC236}">
                  <a16:creationId xmlns:a16="http://schemas.microsoft.com/office/drawing/2014/main" id="{88A6E572-82D3-B262-6248-351014A8AD73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660159" y="478518"/>
              <a:ext cx="2078625" cy="2078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60;p13">
              <a:extLst>
                <a:ext uri="{FF2B5EF4-FFF2-40B4-BE49-F238E27FC236}">
                  <a16:creationId xmlns:a16="http://schemas.microsoft.com/office/drawing/2014/main" id="{54BC4EB3-423D-8D10-5A9B-E751DAD91FF2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383190" y="1202190"/>
              <a:ext cx="531481" cy="5245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61;p13">
              <a:extLst>
                <a:ext uri="{FF2B5EF4-FFF2-40B4-BE49-F238E27FC236}">
                  <a16:creationId xmlns:a16="http://schemas.microsoft.com/office/drawing/2014/main" id="{051C0510-C634-23F5-67AF-8E8804B55A5C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7306" t="16438" r="7780" b="10407"/>
            <a:stretch/>
          </p:blipFill>
          <p:spPr>
            <a:xfrm>
              <a:off x="5660159" y="2692120"/>
              <a:ext cx="2078626" cy="1790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62;p13">
              <a:extLst>
                <a:ext uri="{FF2B5EF4-FFF2-40B4-BE49-F238E27FC236}">
                  <a16:creationId xmlns:a16="http://schemas.microsoft.com/office/drawing/2014/main" id="{DCDA11B1-17CD-EE5D-D2FC-47E18FCD2C63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 l="8669" t="16862" r="8623" b="11800"/>
            <a:stretch/>
          </p:blipFill>
          <p:spPr>
            <a:xfrm>
              <a:off x="3398865" y="2692121"/>
              <a:ext cx="2082451" cy="1790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Google Shape;63;p13">
              <a:extLst>
                <a:ext uri="{FF2B5EF4-FFF2-40B4-BE49-F238E27FC236}">
                  <a16:creationId xmlns:a16="http://schemas.microsoft.com/office/drawing/2014/main" id="{1ABD84B8-2983-9093-BAC9-AAC4013A4E36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34059" y="475673"/>
              <a:ext cx="420475" cy="416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64;p13">
              <a:extLst>
                <a:ext uri="{FF2B5EF4-FFF2-40B4-BE49-F238E27FC236}">
                  <a16:creationId xmlns:a16="http://schemas.microsoft.com/office/drawing/2014/main" id="{30BB5B2A-AAFF-73CC-B60E-1E929BC34CDA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24509" y="891847"/>
              <a:ext cx="420475" cy="416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65;p13">
              <a:extLst>
                <a:ext uri="{FF2B5EF4-FFF2-40B4-BE49-F238E27FC236}">
                  <a16:creationId xmlns:a16="http://schemas.microsoft.com/office/drawing/2014/main" id="{D44D3341-7F63-AAC6-B6B4-23CBD69B6BD0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427559" y="1296297"/>
              <a:ext cx="420475" cy="416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66;p13">
              <a:extLst>
                <a:ext uri="{FF2B5EF4-FFF2-40B4-BE49-F238E27FC236}">
                  <a16:creationId xmlns:a16="http://schemas.microsoft.com/office/drawing/2014/main" id="{44C27D3D-B10A-999E-0558-ABE39D5E1DA0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17321" y="1712472"/>
              <a:ext cx="420475" cy="4161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67;p13">
              <a:extLst>
                <a:ext uri="{FF2B5EF4-FFF2-40B4-BE49-F238E27FC236}">
                  <a16:creationId xmlns:a16="http://schemas.microsoft.com/office/drawing/2014/main" id="{F485C920-9FCE-14C8-C89A-A5D49E54FC70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007084" y="2116922"/>
              <a:ext cx="420475" cy="4161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5A93D3A6-243D-8628-F02F-7DD9B52E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DE" dirty="0"/>
              <a:t>Multi-resolution and chunking</a:t>
            </a:r>
          </a:p>
        </p:txBody>
      </p:sp>
    </p:spTree>
    <p:extLst>
      <p:ext uri="{BB962C8B-B14F-4D97-AF65-F5344CB8AC3E}">
        <p14:creationId xmlns:p14="http://schemas.microsoft.com/office/powerpoint/2010/main" val="23626547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8138-685A-E831-7238-8DBF4BBD4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18" y="2811050"/>
            <a:ext cx="11360800" cy="1792481"/>
          </a:xfrm>
        </p:spPr>
        <p:txBody>
          <a:bodyPr>
            <a:normAutofit/>
          </a:bodyPr>
          <a:lstStyle/>
          <a:p>
            <a:pPr algn="ctr"/>
            <a:r>
              <a:rPr lang="en-DE" dirty="0"/>
              <a:t>OME-Zarr specification for </a:t>
            </a:r>
            <a:br>
              <a:rPr lang="en-DE" dirty="0"/>
            </a:br>
            <a:r>
              <a:rPr lang="en-DE" dirty="0"/>
              <a:t>chunked multi-resolution XYZCT images</a:t>
            </a:r>
          </a:p>
        </p:txBody>
      </p:sp>
      <p:pic>
        <p:nvPicPr>
          <p:cNvPr id="4" name="Picture 6" descr="OME Artwork | Open Microscopy Environment (OME)">
            <a:extLst>
              <a:ext uri="{FF2B5EF4-FFF2-40B4-BE49-F238E27FC236}">
                <a16:creationId xmlns:a16="http://schemas.microsoft.com/office/drawing/2014/main" id="{84D1752D-6451-A2A2-A8D9-33D4D89AE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568" y="576318"/>
            <a:ext cx="3429000" cy="187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oogle Shape;267;p21">
            <a:extLst>
              <a:ext uri="{FF2B5EF4-FFF2-40B4-BE49-F238E27FC236}">
                <a16:creationId xmlns:a16="http://schemas.microsoft.com/office/drawing/2014/main" id="{2FEB334E-2595-21A4-9326-C903077FE6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30147" b="30143"/>
          <a:stretch/>
        </p:blipFill>
        <p:spPr>
          <a:xfrm>
            <a:off x="5340568" y="888632"/>
            <a:ext cx="3160419" cy="12549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017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5660C-C434-0ED8-2410-0401D5DCE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4797531" cy="763600"/>
          </a:xfrm>
        </p:spPr>
        <p:txBody>
          <a:bodyPr>
            <a:normAutofit fontScale="90000"/>
          </a:bodyPr>
          <a:lstStyle/>
          <a:p>
            <a:r>
              <a:rPr lang="en-DE" dirty="0"/>
              <a:t>OME-Zarr: </a:t>
            </a:r>
            <a:br>
              <a:rPr lang="en-DE" dirty="0"/>
            </a:br>
            <a:r>
              <a:rPr lang="en-DE" dirty="0"/>
              <a:t>a chunked file format</a:t>
            </a:r>
          </a:p>
        </p:txBody>
      </p:sp>
      <p:pic>
        <p:nvPicPr>
          <p:cNvPr id="4" name="Google Shape;133;p17">
            <a:extLst>
              <a:ext uri="{FF2B5EF4-FFF2-40B4-BE49-F238E27FC236}">
                <a16:creationId xmlns:a16="http://schemas.microsoft.com/office/drawing/2014/main" id="{18CF96DA-1BAE-E775-4407-663653D2F93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671806" y="239988"/>
            <a:ext cx="4481187" cy="65506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32;p17">
            <a:extLst>
              <a:ext uri="{FF2B5EF4-FFF2-40B4-BE49-F238E27FC236}">
                <a16:creationId xmlns:a16="http://schemas.microsoft.com/office/drawing/2014/main" id="{20005D74-3284-4995-3610-702A3D669213}"/>
              </a:ext>
            </a:extLst>
          </p:cNvPr>
          <p:cNvSpPr txBox="1"/>
          <p:nvPr/>
        </p:nvSpPr>
        <p:spPr>
          <a:xfrm>
            <a:off x="2814365" y="5634789"/>
            <a:ext cx="23313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Illustration by Henning Falk, </a:t>
            </a:r>
            <a:br>
              <a:rPr lang="en" sz="800" dirty="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" sz="800" dirty="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licensed under CC-BY 4.0</a:t>
            </a:r>
            <a:endParaRPr sz="800" dirty="0">
              <a:solidFill>
                <a:srgbClr val="59595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189522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ED9775-8AEB-4D01-4DA3-35C5FB7E9C0A}"/>
              </a:ext>
            </a:extLst>
          </p:cNvPr>
          <p:cNvGraphicFramePr>
            <a:graphicFrameLocks noGrp="1"/>
          </p:cNvGraphicFramePr>
          <p:nvPr/>
        </p:nvGraphicFramePr>
        <p:xfrm>
          <a:off x="5775710" y="928400"/>
          <a:ext cx="2157600" cy="2069508"/>
        </p:xfrm>
        <a:graphic>
          <a:graphicData uri="http://schemas.openxmlformats.org/drawingml/2006/table">
            <a:tbl>
              <a:tblPr/>
              <a:tblGrid>
                <a:gridCol w="359600">
                  <a:extLst>
                    <a:ext uri="{9D8B030D-6E8A-4147-A177-3AD203B41FA5}">
                      <a16:colId xmlns:a16="http://schemas.microsoft.com/office/drawing/2014/main" val="520751035"/>
                    </a:ext>
                  </a:extLst>
                </a:gridCol>
                <a:gridCol w="359600">
                  <a:extLst>
                    <a:ext uri="{9D8B030D-6E8A-4147-A177-3AD203B41FA5}">
                      <a16:colId xmlns:a16="http://schemas.microsoft.com/office/drawing/2014/main" val="162460214"/>
                    </a:ext>
                  </a:extLst>
                </a:gridCol>
                <a:gridCol w="359600">
                  <a:extLst>
                    <a:ext uri="{9D8B030D-6E8A-4147-A177-3AD203B41FA5}">
                      <a16:colId xmlns:a16="http://schemas.microsoft.com/office/drawing/2014/main" val="3565137725"/>
                    </a:ext>
                  </a:extLst>
                </a:gridCol>
                <a:gridCol w="359600">
                  <a:extLst>
                    <a:ext uri="{9D8B030D-6E8A-4147-A177-3AD203B41FA5}">
                      <a16:colId xmlns:a16="http://schemas.microsoft.com/office/drawing/2014/main" val="1938937240"/>
                    </a:ext>
                  </a:extLst>
                </a:gridCol>
                <a:gridCol w="359600">
                  <a:extLst>
                    <a:ext uri="{9D8B030D-6E8A-4147-A177-3AD203B41FA5}">
                      <a16:colId xmlns:a16="http://schemas.microsoft.com/office/drawing/2014/main" val="1031040740"/>
                    </a:ext>
                  </a:extLst>
                </a:gridCol>
                <a:gridCol w="359600">
                  <a:extLst>
                    <a:ext uri="{9D8B030D-6E8A-4147-A177-3AD203B41FA5}">
                      <a16:colId xmlns:a16="http://schemas.microsoft.com/office/drawing/2014/main" val="3881649973"/>
                    </a:ext>
                  </a:extLst>
                </a:gridCol>
              </a:tblGrid>
              <a:tr h="344917"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highlight>
                          <a:srgbClr val="FFFF00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highlight>
                          <a:srgbClr val="FFFF00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highlight>
                          <a:srgbClr val="FFFF00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059969"/>
                  </a:ext>
                </a:extLst>
              </a:tr>
              <a:tr h="344917"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highlight>
                          <a:srgbClr val="FFFF00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highlight>
                          <a:srgbClr val="FFFF00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highlight>
                          <a:srgbClr val="FFFF00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651988"/>
                  </a:ext>
                </a:extLst>
              </a:tr>
              <a:tr h="344917"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highlight>
                          <a:srgbClr val="FFFF00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highlight>
                          <a:srgbClr val="FFFF00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highlight>
                          <a:srgbClr val="FFFF00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121677"/>
                  </a:ext>
                </a:extLst>
              </a:tr>
              <a:tr h="344917"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272598"/>
                  </a:ext>
                </a:extLst>
              </a:tr>
              <a:tr h="344917"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330748"/>
                  </a:ext>
                </a:extLst>
              </a:tr>
              <a:tr h="344917"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00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00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00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8080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80800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6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1079" marR="101079" marT="50539" marB="505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80800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380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1299504-107E-13F5-5A28-CD9E51AA6F9A}"/>
              </a:ext>
            </a:extLst>
          </p:cNvPr>
          <p:cNvSpPr txBox="1"/>
          <p:nvPr/>
        </p:nvSpPr>
        <p:spPr>
          <a:xfrm>
            <a:off x="6900660" y="4366753"/>
            <a:ext cx="7224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0/</a:t>
            </a:r>
            <a:r>
              <a:rPr lang="en-US" sz="20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0/</a:t>
            </a:r>
            <a:r>
              <a:rPr lang="en-US" sz="20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DE" sz="2000" dirty="0">
              <a:highlight>
                <a:srgbClr val="FF00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0/</a:t>
            </a:r>
            <a:r>
              <a:rPr lang="en-US" sz="2000" dirty="0">
                <a:highlight>
                  <a:srgbClr val="FF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DE" sz="2000" dirty="0">
              <a:highlight>
                <a:srgbClr val="FF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0/</a:t>
            </a:r>
            <a:r>
              <a:rPr lang="en-US" sz="2000" dirty="0">
                <a:highlight>
                  <a:srgbClr val="808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DE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2164C4-EAD7-5060-0959-105521B16517}"/>
              </a:ext>
            </a:extLst>
          </p:cNvPr>
          <p:cNvCxnSpPr>
            <a:cxnSpLocks/>
          </p:cNvCxnSpPr>
          <p:nvPr/>
        </p:nvCxnSpPr>
        <p:spPr>
          <a:xfrm>
            <a:off x="8348643" y="1963152"/>
            <a:ext cx="9315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F7E9E09-3088-1F60-F0C9-B67D7D6BF9F9}"/>
              </a:ext>
            </a:extLst>
          </p:cNvPr>
          <p:cNvSpPr txBox="1"/>
          <p:nvPr/>
        </p:nvSpPr>
        <p:spPr>
          <a:xfrm>
            <a:off x="1167750" y="3429000"/>
            <a:ext cx="2480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Metadata JSON text files</a:t>
            </a:r>
            <a:endParaRPr lang="en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957362-92BF-BFF3-0731-404AC44E15E6}"/>
              </a:ext>
            </a:extLst>
          </p:cNvPr>
          <p:cNvSpPr txBox="1"/>
          <p:nvPr/>
        </p:nvSpPr>
        <p:spPr>
          <a:xfrm>
            <a:off x="7933310" y="1454886"/>
            <a:ext cx="1727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Down-scale</a:t>
            </a:r>
            <a:endParaRPr lang="en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3615F5B-351B-7AE2-4E48-A37A76BA44AE}"/>
              </a:ext>
            </a:extLst>
          </p:cNvPr>
          <p:cNvGraphicFramePr>
            <a:graphicFrameLocks noGrp="1"/>
          </p:cNvGraphicFramePr>
          <p:nvPr/>
        </p:nvGraphicFramePr>
        <p:xfrm>
          <a:off x="9753443" y="1432616"/>
          <a:ext cx="1132467" cy="1061073"/>
        </p:xfrm>
        <a:graphic>
          <a:graphicData uri="http://schemas.openxmlformats.org/drawingml/2006/table">
            <a:tbl>
              <a:tblPr/>
              <a:tblGrid>
                <a:gridCol w="377489">
                  <a:extLst>
                    <a:ext uri="{9D8B030D-6E8A-4147-A177-3AD203B41FA5}">
                      <a16:colId xmlns:a16="http://schemas.microsoft.com/office/drawing/2014/main" val="520751035"/>
                    </a:ext>
                  </a:extLst>
                </a:gridCol>
                <a:gridCol w="377489">
                  <a:extLst>
                    <a:ext uri="{9D8B030D-6E8A-4147-A177-3AD203B41FA5}">
                      <a16:colId xmlns:a16="http://schemas.microsoft.com/office/drawing/2014/main" val="162460214"/>
                    </a:ext>
                  </a:extLst>
                </a:gridCol>
                <a:gridCol w="377489">
                  <a:extLst>
                    <a:ext uri="{9D8B030D-6E8A-4147-A177-3AD203B41FA5}">
                      <a16:colId xmlns:a16="http://schemas.microsoft.com/office/drawing/2014/main" val="3565137725"/>
                    </a:ext>
                  </a:extLst>
                </a:gridCol>
              </a:tblGrid>
              <a:tr h="353691">
                <a:tc>
                  <a:txBody>
                    <a:bodyPr/>
                    <a:lstStyle/>
                    <a:p>
                      <a:pPr algn="ctr"/>
                      <a:endParaRPr lang="en-DE" sz="1500" dirty="0">
                        <a:highlight>
                          <a:srgbClr val="000080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6107" marR="106107" marT="53053" marB="53053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FF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500" dirty="0">
                        <a:highlight>
                          <a:srgbClr val="000080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6107" marR="106107" marT="53053" marB="53053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500" dirty="0">
                        <a:highlight>
                          <a:srgbClr val="000080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6107" marR="106107" marT="53053" marB="53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059969"/>
                  </a:ext>
                </a:extLst>
              </a:tr>
              <a:tr h="353691">
                <a:tc>
                  <a:txBody>
                    <a:bodyPr/>
                    <a:lstStyle/>
                    <a:p>
                      <a:pPr algn="ctr"/>
                      <a:endParaRPr lang="en-DE" sz="1500" dirty="0">
                        <a:highlight>
                          <a:srgbClr val="000080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6107" marR="106107" marT="53053" marB="53053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FF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500" dirty="0">
                        <a:highlight>
                          <a:srgbClr val="000080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6107" marR="106107" marT="53053" marB="53053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500" dirty="0">
                        <a:highlight>
                          <a:srgbClr val="000080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6107" marR="106107" marT="53053" marB="53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7651988"/>
                  </a:ext>
                </a:extLst>
              </a:tr>
              <a:tr h="353691">
                <a:tc>
                  <a:txBody>
                    <a:bodyPr/>
                    <a:lstStyle/>
                    <a:p>
                      <a:pPr algn="ctr"/>
                      <a:endParaRPr lang="en-DE" sz="1500" dirty="0">
                        <a:highlight>
                          <a:srgbClr val="000080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6107" marR="106107" marT="53053" marB="53053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500" dirty="0">
                        <a:highlight>
                          <a:srgbClr val="000080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6107" marR="106107" marT="53053" marB="53053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DE" sz="1500" dirty="0">
                        <a:highlight>
                          <a:srgbClr val="000080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106107" marR="106107" marT="53053" marB="5305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121677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7772186F-4609-2F3A-70E0-24726ECB0934}"/>
              </a:ext>
            </a:extLst>
          </p:cNvPr>
          <p:cNvSpPr txBox="1"/>
          <p:nvPr/>
        </p:nvSpPr>
        <p:spPr>
          <a:xfrm>
            <a:off x="10082570" y="4336381"/>
            <a:ext cx="6463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1/</a:t>
            </a:r>
            <a:r>
              <a:rPr lang="en-US" sz="2000" dirty="0"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en-DE" sz="2000" dirty="0">
              <a:highlight>
                <a:srgbClr val="00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0662ED-6854-BA0F-4541-BA06A6D6CD8E}"/>
              </a:ext>
            </a:extLst>
          </p:cNvPr>
          <p:cNvSpPr txBox="1"/>
          <p:nvPr/>
        </p:nvSpPr>
        <p:spPr>
          <a:xfrm>
            <a:off x="525585" y="3959286"/>
            <a:ext cx="45271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"axes": [ {"name": "t", "type": "time", "unit": "millisecond"}, {"name": "c", "type": "channel"}, {"name": "z", "type": "space", "unit": "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micrometer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"}, {"name": "y", "type": "space", "unit": "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micrometer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"}, {"name": "x", "type": "space", "unit": "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micrometer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"} ],</a:t>
            </a:r>
            <a:r>
              <a:rPr lang="en-GB" sz="1200" dirty="0"/>
              <a:t> 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"datasets": [ { "path": "0", "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coordinateTransformations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 [{"type": "scale", "scale": [1.0, 1.0, 0.5, 0.5, 0.5] }] }, { "path": "1", "</a:t>
            </a:r>
            <a:r>
              <a:rPr lang="en-GB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coordinateTransformations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": [{"type": "scale", "scale": [1.0, 1.0, 1.0, 1.0, 1.0] }] }, …</a:t>
            </a:r>
            <a:endParaRPr lang="en-DE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FFDC25-2622-2215-A911-F1356089F26D}"/>
              </a:ext>
            </a:extLst>
          </p:cNvPr>
          <p:cNvSpPr txBox="1"/>
          <p:nvPr/>
        </p:nvSpPr>
        <p:spPr>
          <a:xfrm>
            <a:off x="7750418" y="3559176"/>
            <a:ext cx="1996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Resolution folders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2D716B8-3891-6CDA-C57E-F237206A96B2}"/>
              </a:ext>
            </a:extLst>
          </p:cNvPr>
          <p:cNvCxnSpPr>
            <a:stCxn id="3" idx="1"/>
          </p:cNvCxnSpPr>
          <p:nvPr/>
        </p:nvCxnSpPr>
        <p:spPr>
          <a:xfrm flipH="1">
            <a:off x="7100047" y="3743842"/>
            <a:ext cx="650371" cy="592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330F2BD-EA4B-7019-E65E-D9A3F93E673A}"/>
              </a:ext>
            </a:extLst>
          </p:cNvPr>
          <p:cNvCxnSpPr>
            <a:cxnSpLocks/>
          </p:cNvCxnSpPr>
          <p:nvPr/>
        </p:nvCxnSpPr>
        <p:spPr>
          <a:xfrm>
            <a:off x="9624290" y="3759231"/>
            <a:ext cx="585594" cy="577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B29EDB9-6C00-67A2-69B3-9E1E62B041D1}"/>
              </a:ext>
            </a:extLst>
          </p:cNvPr>
          <p:cNvSpPr txBox="1"/>
          <p:nvPr/>
        </p:nvSpPr>
        <p:spPr>
          <a:xfrm>
            <a:off x="8566654" y="5684331"/>
            <a:ext cx="18252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Binary chunk files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460106C-533B-5526-92FE-E6299951E151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7650336" y="5524531"/>
            <a:ext cx="916318" cy="344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34E5073-6893-8332-D2B2-B8C0800F0F6A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10391887" y="4941516"/>
            <a:ext cx="171243" cy="927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9A33973-122F-A1C9-CF18-8CCEC023325B}"/>
              </a:ext>
            </a:extLst>
          </p:cNvPr>
          <p:cNvSpPr txBox="1"/>
          <p:nvPr/>
        </p:nvSpPr>
        <p:spPr>
          <a:xfrm>
            <a:off x="589397" y="947055"/>
            <a:ext cx="41224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OME-Zarr builds on ZARR: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Nested folder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Metadata text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Binary data array chunks files</a:t>
            </a:r>
          </a:p>
          <a:p>
            <a:b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One OME-Zarr folder can contain multiple 5D images</a:t>
            </a:r>
            <a:endParaRPr lang="en-D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625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19</a:t>
            </a:fld>
            <a:endParaRPr/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5767" y="246789"/>
            <a:ext cx="1637800" cy="6256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8"/>
          <p:cNvGrpSpPr/>
          <p:nvPr/>
        </p:nvGrpSpPr>
        <p:grpSpPr>
          <a:xfrm>
            <a:off x="6910353" y="1263476"/>
            <a:ext cx="3335016" cy="3393643"/>
            <a:chOff x="3691825" y="1386700"/>
            <a:chExt cx="3691900" cy="3756800"/>
          </a:xfrm>
        </p:grpSpPr>
        <p:sp>
          <p:nvSpPr>
            <p:cNvPr id="141" name="Google Shape;141;p18"/>
            <p:cNvSpPr/>
            <p:nvPr/>
          </p:nvSpPr>
          <p:spPr>
            <a:xfrm>
              <a:off x="36918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" name="Google Shape;142;p18"/>
            <p:cNvSpPr/>
            <p:nvPr/>
          </p:nvSpPr>
          <p:spPr>
            <a:xfrm>
              <a:off x="48839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" name="Google Shape;143;p18"/>
            <p:cNvSpPr/>
            <p:nvPr/>
          </p:nvSpPr>
          <p:spPr>
            <a:xfrm>
              <a:off x="60760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" name="Google Shape;144;p18"/>
            <p:cNvSpPr/>
            <p:nvPr/>
          </p:nvSpPr>
          <p:spPr>
            <a:xfrm>
              <a:off x="36918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" name="Google Shape;145;p18"/>
            <p:cNvSpPr/>
            <p:nvPr/>
          </p:nvSpPr>
          <p:spPr>
            <a:xfrm>
              <a:off x="48839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" name="Google Shape;146;p18"/>
            <p:cNvSpPr/>
            <p:nvPr/>
          </p:nvSpPr>
          <p:spPr>
            <a:xfrm>
              <a:off x="60760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" name="Google Shape;147;p18"/>
            <p:cNvSpPr/>
            <p:nvPr/>
          </p:nvSpPr>
          <p:spPr>
            <a:xfrm>
              <a:off x="36918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" name="Google Shape;148;p18"/>
            <p:cNvSpPr/>
            <p:nvPr/>
          </p:nvSpPr>
          <p:spPr>
            <a:xfrm>
              <a:off x="48839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" name="Google Shape;149;p18"/>
            <p:cNvSpPr/>
            <p:nvPr/>
          </p:nvSpPr>
          <p:spPr>
            <a:xfrm>
              <a:off x="60760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50" name="Google Shape;150;p18"/>
          <p:cNvGrpSpPr/>
          <p:nvPr/>
        </p:nvGrpSpPr>
        <p:grpSpPr>
          <a:xfrm>
            <a:off x="6438001" y="1732169"/>
            <a:ext cx="3335016" cy="3393643"/>
            <a:chOff x="3691825" y="1386700"/>
            <a:chExt cx="3691900" cy="3756800"/>
          </a:xfrm>
        </p:grpSpPr>
        <p:sp>
          <p:nvSpPr>
            <p:cNvPr id="151" name="Google Shape;151;p18"/>
            <p:cNvSpPr/>
            <p:nvPr/>
          </p:nvSpPr>
          <p:spPr>
            <a:xfrm>
              <a:off x="36918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" name="Google Shape;152;p18"/>
            <p:cNvSpPr/>
            <p:nvPr/>
          </p:nvSpPr>
          <p:spPr>
            <a:xfrm>
              <a:off x="48839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60760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" name="Google Shape;154;p18"/>
            <p:cNvSpPr/>
            <p:nvPr/>
          </p:nvSpPr>
          <p:spPr>
            <a:xfrm>
              <a:off x="36918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48839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60760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" name="Google Shape;157;p18"/>
            <p:cNvSpPr/>
            <p:nvPr/>
          </p:nvSpPr>
          <p:spPr>
            <a:xfrm>
              <a:off x="36918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48839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60760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60" name="Google Shape;160;p18"/>
          <p:cNvGrpSpPr/>
          <p:nvPr/>
        </p:nvGrpSpPr>
        <p:grpSpPr>
          <a:xfrm>
            <a:off x="5965649" y="2200863"/>
            <a:ext cx="3335016" cy="3393643"/>
            <a:chOff x="3691825" y="1386700"/>
            <a:chExt cx="3691900" cy="3756800"/>
          </a:xfrm>
        </p:grpSpPr>
        <p:sp>
          <p:nvSpPr>
            <p:cNvPr id="161" name="Google Shape;161;p18"/>
            <p:cNvSpPr/>
            <p:nvPr/>
          </p:nvSpPr>
          <p:spPr>
            <a:xfrm>
              <a:off x="36918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" name="Google Shape;162;p18"/>
            <p:cNvSpPr/>
            <p:nvPr/>
          </p:nvSpPr>
          <p:spPr>
            <a:xfrm>
              <a:off x="48839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" name="Google Shape;163;p18"/>
            <p:cNvSpPr/>
            <p:nvPr/>
          </p:nvSpPr>
          <p:spPr>
            <a:xfrm>
              <a:off x="60760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" name="Google Shape;164;p18"/>
            <p:cNvSpPr/>
            <p:nvPr/>
          </p:nvSpPr>
          <p:spPr>
            <a:xfrm>
              <a:off x="36918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" name="Google Shape;165;p18"/>
            <p:cNvSpPr/>
            <p:nvPr/>
          </p:nvSpPr>
          <p:spPr>
            <a:xfrm>
              <a:off x="48839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" name="Google Shape;166;p18"/>
            <p:cNvSpPr/>
            <p:nvPr/>
          </p:nvSpPr>
          <p:spPr>
            <a:xfrm>
              <a:off x="60760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" name="Google Shape;167;p18"/>
            <p:cNvSpPr/>
            <p:nvPr/>
          </p:nvSpPr>
          <p:spPr>
            <a:xfrm>
              <a:off x="36918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" name="Google Shape;168;p18"/>
            <p:cNvSpPr/>
            <p:nvPr/>
          </p:nvSpPr>
          <p:spPr>
            <a:xfrm>
              <a:off x="48839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" name="Google Shape;169;p18"/>
            <p:cNvSpPr/>
            <p:nvPr/>
          </p:nvSpPr>
          <p:spPr>
            <a:xfrm>
              <a:off x="60760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cxnSp>
        <p:nvCxnSpPr>
          <p:cNvPr id="170" name="Google Shape;170;p18"/>
          <p:cNvCxnSpPr/>
          <p:nvPr/>
        </p:nvCxnSpPr>
        <p:spPr>
          <a:xfrm rot="10800000">
            <a:off x="4503733" y="5108700"/>
            <a:ext cx="1907600" cy="9200"/>
          </a:xfrm>
          <a:prstGeom prst="straightConnector1">
            <a:avLst/>
          </a:prstGeom>
          <a:noFill/>
          <a:ln w="19050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" name="Google Shape;171;p18"/>
          <p:cNvSpPr txBox="1"/>
          <p:nvPr/>
        </p:nvSpPr>
        <p:spPr>
          <a:xfrm>
            <a:off x="1651400" y="4796633"/>
            <a:ext cx="2917600" cy="15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2400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Chunks</a:t>
            </a:r>
            <a:endParaRPr sz="2400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r">
              <a:spcBef>
                <a:spcPts val="1333"/>
              </a:spcBef>
            </a:pPr>
            <a:r>
              <a:rPr lang="en" sz="2400">
                <a:solidFill>
                  <a:srgbClr val="7F7F7F"/>
                </a:solidFill>
                <a:latin typeface="Nunito Light"/>
                <a:ea typeface="Nunito Light"/>
                <a:cs typeface="Nunito Light"/>
                <a:sym typeface="Nunito Light"/>
              </a:rPr>
              <a:t>32 x 32 x 32 vx</a:t>
            </a:r>
            <a:endParaRPr sz="2400">
              <a:solidFill>
                <a:srgbClr val="7F7F7F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algn="r">
              <a:spcBef>
                <a:spcPts val="1333"/>
              </a:spcBef>
              <a:spcAft>
                <a:spcPts val="1333"/>
              </a:spcAft>
            </a:pPr>
            <a:r>
              <a:rPr lang="en" sz="2400">
                <a:solidFill>
                  <a:srgbClr val="7F7F7F"/>
                </a:solidFill>
                <a:latin typeface="Nunito Light"/>
                <a:ea typeface="Nunito Light"/>
                <a:cs typeface="Nunito Light"/>
                <a:sym typeface="Nunito Light"/>
              </a:rPr>
              <a:t>= 32kB for uint8</a:t>
            </a:r>
            <a:endParaRPr sz="2400">
              <a:solidFill>
                <a:srgbClr val="7F7F7F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33800" y="2112300"/>
            <a:ext cx="4035200" cy="26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" sz="3333">
                <a:solidFill>
                  <a:srgbClr val="5660FF"/>
                </a:solidFill>
                <a:latin typeface="Nunito Light"/>
                <a:ea typeface="Nunito Light"/>
                <a:cs typeface="Nunito Light"/>
                <a:sym typeface="Nunito Light"/>
              </a:rPr>
              <a:t>Key enabler:</a:t>
            </a:r>
            <a:endParaRPr sz="3333">
              <a:solidFill>
                <a:srgbClr val="5660FF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algn="r">
              <a:lnSpc>
                <a:spcPct val="115000"/>
              </a:lnSpc>
            </a:pPr>
            <a:r>
              <a:rPr lang="en" sz="3333">
                <a:solidFill>
                  <a:srgbClr val="5660FF"/>
                </a:solidFill>
                <a:latin typeface="Nunito Light"/>
                <a:ea typeface="Nunito Light"/>
                <a:cs typeface="Nunito Light"/>
                <a:sym typeface="Nunito Light"/>
              </a:rPr>
              <a:t>Small chunks</a:t>
            </a:r>
            <a:endParaRPr sz="3333">
              <a:solidFill>
                <a:srgbClr val="5660FF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214833" y="6238695"/>
            <a:ext cx="29404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>
                <a:solidFill>
                  <a:srgbClr val="6871FF"/>
                </a:solidFill>
                <a:latin typeface="Nunito Light"/>
                <a:ea typeface="Nunito Light"/>
                <a:cs typeface="Nunito Light"/>
                <a:sym typeface="Nunito Light"/>
              </a:rPr>
              <a:t>OME-ZARR</a:t>
            </a:r>
            <a:endParaRPr sz="1600">
              <a:solidFill>
                <a:srgbClr val="6871FF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20</a:t>
            </a:fld>
            <a:endParaRPr/>
          </a:p>
        </p:txBody>
      </p:sp>
      <p:pic>
        <p:nvPicPr>
          <p:cNvPr id="179" name="Google Shape;17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5767" y="246789"/>
            <a:ext cx="1637800" cy="6256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19"/>
          <p:cNvGrpSpPr/>
          <p:nvPr/>
        </p:nvGrpSpPr>
        <p:grpSpPr>
          <a:xfrm>
            <a:off x="6910353" y="1263476"/>
            <a:ext cx="3335016" cy="3393643"/>
            <a:chOff x="3691825" y="1386700"/>
            <a:chExt cx="3691900" cy="3756800"/>
          </a:xfrm>
        </p:grpSpPr>
        <p:sp>
          <p:nvSpPr>
            <p:cNvPr id="181" name="Google Shape;181;p19"/>
            <p:cNvSpPr/>
            <p:nvPr/>
          </p:nvSpPr>
          <p:spPr>
            <a:xfrm>
              <a:off x="36918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2" name="Google Shape;182;p19"/>
            <p:cNvSpPr/>
            <p:nvPr/>
          </p:nvSpPr>
          <p:spPr>
            <a:xfrm>
              <a:off x="48839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3" name="Google Shape;183;p19"/>
            <p:cNvSpPr/>
            <p:nvPr/>
          </p:nvSpPr>
          <p:spPr>
            <a:xfrm>
              <a:off x="60760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4" name="Google Shape;184;p19"/>
            <p:cNvSpPr/>
            <p:nvPr/>
          </p:nvSpPr>
          <p:spPr>
            <a:xfrm>
              <a:off x="36918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" name="Google Shape;185;p19"/>
            <p:cNvSpPr/>
            <p:nvPr/>
          </p:nvSpPr>
          <p:spPr>
            <a:xfrm>
              <a:off x="48839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60760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" name="Google Shape;187;p19"/>
            <p:cNvSpPr/>
            <p:nvPr/>
          </p:nvSpPr>
          <p:spPr>
            <a:xfrm>
              <a:off x="36918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" name="Google Shape;188;p19"/>
            <p:cNvSpPr/>
            <p:nvPr/>
          </p:nvSpPr>
          <p:spPr>
            <a:xfrm>
              <a:off x="48839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60760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90" name="Google Shape;190;p19"/>
          <p:cNvGrpSpPr/>
          <p:nvPr/>
        </p:nvGrpSpPr>
        <p:grpSpPr>
          <a:xfrm>
            <a:off x="6438001" y="1732169"/>
            <a:ext cx="3335016" cy="3393643"/>
            <a:chOff x="3691825" y="1386700"/>
            <a:chExt cx="3691900" cy="3756800"/>
          </a:xfrm>
        </p:grpSpPr>
        <p:sp>
          <p:nvSpPr>
            <p:cNvPr id="191" name="Google Shape;191;p19"/>
            <p:cNvSpPr/>
            <p:nvPr/>
          </p:nvSpPr>
          <p:spPr>
            <a:xfrm>
              <a:off x="36918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48839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60760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36918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5" name="Google Shape;195;p19"/>
            <p:cNvSpPr/>
            <p:nvPr/>
          </p:nvSpPr>
          <p:spPr>
            <a:xfrm>
              <a:off x="48839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6" name="Google Shape;196;p19"/>
            <p:cNvSpPr/>
            <p:nvPr/>
          </p:nvSpPr>
          <p:spPr>
            <a:xfrm>
              <a:off x="60760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" name="Google Shape;197;p19"/>
            <p:cNvSpPr/>
            <p:nvPr/>
          </p:nvSpPr>
          <p:spPr>
            <a:xfrm>
              <a:off x="36918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48839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60760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00" name="Google Shape;200;p19"/>
          <p:cNvGrpSpPr/>
          <p:nvPr/>
        </p:nvGrpSpPr>
        <p:grpSpPr>
          <a:xfrm>
            <a:off x="5965649" y="2200863"/>
            <a:ext cx="3335016" cy="3393643"/>
            <a:chOff x="3691825" y="1386700"/>
            <a:chExt cx="3691900" cy="3756800"/>
          </a:xfrm>
        </p:grpSpPr>
        <p:sp>
          <p:nvSpPr>
            <p:cNvPr id="201" name="Google Shape;201;p19"/>
            <p:cNvSpPr/>
            <p:nvPr/>
          </p:nvSpPr>
          <p:spPr>
            <a:xfrm>
              <a:off x="36918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" name="Google Shape;202;p19"/>
            <p:cNvSpPr/>
            <p:nvPr/>
          </p:nvSpPr>
          <p:spPr>
            <a:xfrm>
              <a:off x="48839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60760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36918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" name="Google Shape;205;p19"/>
            <p:cNvSpPr/>
            <p:nvPr/>
          </p:nvSpPr>
          <p:spPr>
            <a:xfrm>
              <a:off x="48839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60760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36918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" name="Google Shape;208;p19"/>
            <p:cNvSpPr/>
            <p:nvPr/>
          </p:nvSpPr>
          <p:spPr>
            <a:xfrm>
              <a:off x="48839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" name="Google Shape;209;p19"/>
            <p:cNvSpPr/>
            <p:nvPr/>
          </p:nvSpPr>
          <p:spPr>
            <a:xfrm>
              <a:off x="60760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10" name="Google Shape;210;p19"/>
          <p:cNvSpPr txBox="1"/>
          <p:nvPr/>
        </p:nvSpPr>
        <p:spPr>
          <a:xfrm>
            <a:off x="533800" y="4491833"/>
            <a:ext cx="4044400" cy="15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>
              <a:buClr>
                <a:schemeClr val="dk1"/>
              </a:buClr>
              <a:buSzPts val="1100"/>
            </a:pPr>
            <a:r>
              <a:rPr lang="en" sz="2400">
                <a:solidFill>
                  <a:srgbClr val="7F7F7F"/>
                </a:solidFill>
                <a:latin typeface="Nunito Light"/>
                <a:ea typeface="Nunito Light"/>
                <a:cs typeface="Nunito Light"/>
                <a:sym typeface="Nunito Light"/>
              </a:rPr>
              <a:t>1TB = 33.554.432 files</a:t>
            </a:r>
            <a:endParaRPr sz="2400">
              <a:solidFill>
                <a:srgbClr val="7F7F7F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533800" y="1365400"/>
            <a:ext cx="4044400" cy="41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" sz="3333">
                <a:solidFill>
                  <a:srgbClr val="5660FF"/>
                </a:solidFill>
                <a:latin typeface="Nunito Light"/>
                <a:ea typeface="Nunito Light"/>
                <a:cs typeface="Nunito Light"/>
                <a:sym typeface="Nunito Light"/>
              </a:rPr>
              <a:t>Many 32kB files don’t play well with current file systems</a:t>
            </a:r>
            <a:endParaRPr sz="3333">
              <a:solidFill>
                <a:srgbClr val="5660FF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214833" y="6238695"/>
            <a:ext cx="29404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>
                <a:solidFill>
                  <a:srgbClr val="6871FF"/>
                </a:solidFill>
                <a:latin typeface="Nunito Light"/>
                <a:ea typeface="Nunito Light"/>
                <a:cs typeface="Nunito Light"/>
                <a:sym typeface="Nunito Light"/>
              </a:rPr>
              <a:t>OME-ZARR</a:t>
            </a:r>
            <a:endParaRPr sz="1600">
              <a:solidFill>
                <a:srgbClr val="6871FF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21</a:t>
            </a:fld>
            <a:endParaRPr/>
          </a:p>
        </p:txBody>
      </p:sp>
      <p:pic>
        <p:nvPicPr>
          <p:cNvPr id="218" name="Google Shape;2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05767" y="246789"/>
            <a:ext cx="1637800" cy="62566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533800" y="2372833"/>
            <a:ext cx="4044400" cy="21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>
              <a:lnSpc>
                <a:spcPct val="115000"/>
              </a:lnSpc>
            </a:pPr>
            <a:r>
              <a:rPr lang="en" sz="3333">
                <a:solidFill>
                  <a:srgbClr val="5660FF"/>
                </a:solidFill>
                <a:latin typeface="Nunito Light"/>
                <a:ea typeface="Nunito Light"/>
                <a:cs typeface="Nunito Light"/>
                <a:sym typeface="Nunito Light"/>
              </a:rPr>
              <a:t>Idea: Put many chunks in a larger file (shard)</a:t>
            </a:r>
            <a:endParaRPr sz="3333">
              <a:solidFill>
                <a:srgbClr val="5660FF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grpSp>
        <p:nvGrpSpPr>
          <p:cNvPr id="220" name="Google Shape;220;p20"/>
          <p:cNvGrpSpPr/>
          <p:nvPr/>
        </p:nvGrpSpPr>
        <p:grpSpPr>
          <a:xfrm>
            <a:off x="6910353" y="1263476"/>
            <a:ext cx="3335016" cy="3393643"/>
            <a:chOff x="3691825" y="1386700"/>
            <a:chExt cx="3691900" cy="3756800"/>
          </a:xfrm>
        </p:grpSpPr>
        <p:sp>
          <p:nvSpPr>
            <p:cNvPr id="221" name="Google Shape;221;p20"/>
            <p:cNvSpPr/>
            <p:nvPr/>
          </p:nvSpPr>
          <p:spPr>
            <a:xfrm>
              <a:off x="36918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2" name="Google Shape;222;p20"/>
            <p:cNvSpPr/>
            <p:nvPr/>
          </p:nvSpPr>
          <p:spPr>
            <a:xfrm>
              <a:off x="48839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3" name="Google Shape;223;p20"/>
            <p:cNvSpPr/>
            <p:nvPr/>
          </p:nvSpPr>
          <p:spPr>
            <a:xfrm>
              <a:off x="60760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4" name="Google Shape;224;p20"/>
            <p:cNvSpPr/>
            <p:nvPr/>
          </p:nvSpPr>
          <p:spPr>
            <a:xfrm>
              <a:off x="36918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48839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6" name="Google Shape;226;p20"/>
            <p:cNvSpPr/>
            <p:nvPr/>
          </p:nvSpPr>
          <p:spPr>
            <a:xfrm>
              <a:off x="60760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36918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48839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" name="Google Shape;229;p20"/>
            <p:cNvSpPr/>
            <p:nvPr/>
          </p:nvSpPr>
          <p:spPr>
            <a:xfrm>
              <a:off x="60760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30" name="Google Shape;230;p20"/>
          <p:cNvGrpSpPr/>
          <p:nvPr/>
        </p:nvGrpSpPr>
        <p:grpSpPr>
          <a:xfrm>
            <a:off x="6438001" y="1732169"/>
            <a:ext cx="3335016" cy="3393643"/>
            <a:chOff x="3691825" y="1386700"/>
            <a:chExt cx="3691900" cy="3756800"/>
          </a:xfrm>
        </p:grpSpPr>
        <p:sp>
          <p:nvSpPr>
            <p:cNvPr id="231" name="Google Shape;231;p20"/>
            <p:cNvSpPr/>
            <p:nvPr/>
          </p:nvSpPr>
          <p:spPr>
            <a:xfrm>
              <a:off x="36918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2" name="Google Shape;232;p20"/>
            <p:cNvSpPr/>
            <p:nvPr/>
          </p:nvSpPr>
          <p:spPr>
            <a:xfrm>
              <a:off x="48839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60760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4" name="Google Shape;234;p20"/>
            <p:cNvSpPr/>
            <p:nvPr/>
          </p:nvSpPr>
          <p:spPr>
            <a:xfrm>
              <a:off x="36918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5" name="Google Shape;235;p20"/>
            <p:cNvSpPr/>
            <p:nvPr/>
          </p:nvSpPr>
          <p:spPr>
            <a:xfrm>
              <a:off x="48839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6" name="Google Shape;236;p20"/>
            <p:cNvSpPr/>
            <p:nvPr/>
          </p:nvSpPr>
          <p:spPr>
            <a:xfrm>
              <a:off x="60760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7" name="Google Shape;237;p20"/>
            <p:cNvSpPr/>
            <p:nvPr/>
          </p:nvSpPr>
          <p:spPr>
            <a:xfrm>
              <a:off x="36918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8" name="Google Shape;238;p20"/>
            <p:cNvSpPr/>
            <p:nvPr/>
          </p:nvSpPr>
          <p:spPr>
            <a:xfrm>
              <a:off x="48839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60760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40" name="Google Shape;240;p20"/>
          <p:cNvGrpSpPr/>
          <p:nvPr/>
        </p:nvGrpSpPr>
        <p:grpSpPr>
          <a:xfrm>
            <a:off x="5965649" y="2200863"/>
            <a:ext cx="3335016" cy="3393643"/>
            <a:chOff x="3691825" y="1386700"/>
            <a:chExt cx="3691900" cy="3756800"/>
          </a:xfrm>
        </p:grpSpPr>
        <p:sp>
          <p:nvSpPr>
            <p:cNvPr id="241" name="Google Shape;241;p20"/>
            <p:cNvSpPr/>
            <p:nvPr/>
          </p:nvSpPr>
          <p:spPr>
            <a:xfrm>
              <a:off x="36918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2" name="Google Shape;242;p20"/>
            <p:cNvSpPr/>
            <p:nvPr/>
          </p:nvSpPr>
          <p:spPr>
            <a:xfrm>
              <a:off x="48839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6076025" y="38358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36918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48839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6076025" y="26182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36918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48839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6076025" y="1386700"/>
              <a:ext cx="1307700" cy="1307700"/>
            </a:xfrm>
            <a:prstGeom prst="cube">
              <a:avLst>
                <a:gd name="adj" fmla="val 25000"/>
              </a:avLst>
            </a:prstGeom>
            <a:solidFill>
              <a:srgbClr val="6D9EEB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50" name="Google Shape;250;p20"/>
          <p:cNvSpPr/>
          <p:nvPr/>
        </p:nvSpPr>
        <p:spPr>
          <a:xfrm>
            <a:off x="5965600" y="999633"/>
            <a:ext cx="4279600" cy="1360000"/>
          </a:xfrm>
          <a:prstGeom prst="cube">
            <a:avLst>
              <a:gd name="adj" fmla="val 91451"/>
            </a:avLst>
          </a:prstGeom>
          <a:solidFill>
            <a:srgbClr val="6D9EEB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51" name="Google Shape;251;p20"/>
          <p:cNvSpPr/>
          <p:nvPr/>
        </p:nvSpPr>
        <p:spPr>
          <a:xfrm>
            <a:off x="5675400" y="712067"/>
            <a:ext cx="4887600" cy="5177600"/>
          </a:xfrm>
          <a:prstGeom prst="cube">
            <a:avLst>
              <a:gd name="adj" fmla="val 25000"/>
            </a:avLst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252" name="Google Shape;252;p20"/>
          <p:cNvCxnSpPr/>
          <p:nvPr/>
        </p:nvCxnSpPr>
        <p:spPr>
          <a:xfrm rot="10800000">
            <a:off x="6021133" y="988067"/>
            <a:ext cx="1394800" cy="616000"/>
          </a:xfrm>
          <a:prstGeom prst="straightConnector1">
            <a:avLst/>
          </a:prstGeom>
          <a:noFill/>
          <a:ln w="19050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" name="Google Shape;253;p20"/>
          <p:cNvSpPr txBox="1"/>
          <p:nvPr/>
        </p:nvSpPr>
        <p:spPr>
          <a:xfrm>
            <a:off x="4742367" y="624267"/>
            <a:ext cx="1278800" cy="6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>
              <a:spcAft>
                <a:spcPts val="1333"/>
              </a:spcAft>
            </a:pPr>
            <a:r>
              <a:rPr lang="en" sz="2400">
                <a:solidFill>
                  <a:srgbClr val="7F7F7F"/>
                </a:solidFill>
                <a:latin typeface="Nunito Light"/>
                <a:ea typeface="Nunito Light"/>
                <a:cs typeface="Nunito Light"/>
                <a:sym typeface="Nunito Light"/>
              </a:rPr>
              <a:t>Header</a:t>
            </a:r>
            <a:endParaRPr sz="2400">
              <a:solidFill>
                <a:srgbClr val="7F7F7F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254" name="Google Shape;254;p20"/>
          <p:cNvSpPr txBox="1"/>
          <p:nvPr/>
        </p:nvSpPr>
        <p:spPr>
          <a:xfrm>
            <a:off x="846800" y="4657133"/>
            <a:ext cx="3691200" cy="16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2400">
                <a:solidFill>
                  <a:srgbClr val="7F7F7F"/>
                </a:solidFill>
                <a:latin typeface="Nunito"/>
                <a:ea typeface="Nunito"/>
                <a:cs typeface="Nunito"/>
                <a:sym typeface="Nunito"/>
              </a:rPr>
              <a:t>Shard file</a:t>
            </a:r>
            <a:endParaRPr sz="2400">
              <a:solidFill>
                <a:srgbClr val="7F7F7F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r">
              <a:spcBef>
                <a:spcPts val="1333"/>
              </a:spcBef>
            </a:pPr>
            <a:r>
              <a:rPr lang="en" sz="2400">
                <a:solidFill>
                  <a:srgbClr val="7F7F7F"/>
                </a:solidFill>
                <a:latin typeface="Nunito Light"/>
                <a:ea typeface="Nunito Light"/>
                <a:cs typeface="Nunito Light"/>
                <a:sym typeface="Nunito Light"/>
              </a:rPr>
              <a:t>32 x 32 x 32 chunks</a:t>
            </a:r>
            <a:endParaRPr sz="2400">
              <a:solidFill>
                <a:srgbClr val="7F7F7F"/>
              </a:solidFill>
              <a:latin typeface="Nunito Light"/>
              <a:ea typeface="Nunito Light"/>
              <a:cs typeface="Nunito Light"/>
              <a:sym typeface="Nunito Light"/>
            </a:endParaRPr>
          </a:p>
          <a:p>
            <a:pPr algn="r">
              <a:spcBef>
                <a:spcPts val="1333"/>
              </a:spcBef>
              <a:spcAft>
                <a:spcPts val="1333"/>
              </a:spcAft>
            </a:pPr>
            <a:r>
              <a:rPr lang="en" sz="2400">
                <a:solidFill>
                  <a:srgbClr val="7F7F7F"/>
                </a:solidFill>
                <a:latin typeface="Nunito Light"/>
                <a:ea typeface="Nunito Light"/>
                <a:cs typeface="Nunito Light"/>
                <a:sym typeface="Nunito Light"/>
              </a:rPr>
              <a:t>= 1GB for uint8</a:t>
            </a:r>
            <a:endParaRPr sz="2400">
              <a:solidFill>
                <a:srgbClr val="7F7F7F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cxnSp>
        <p:nvCxnSpPr>
          <p:cNvPr id="255" name="Google Shape;255;p20"/>
          <p:cNvCxnSpPr/>
          <p:nvPr/>
        </p:nvCxnSpPr>
        <p:spPr>
          <a:xfrm rot="10800000">
            <a:off x="4513200" y="4997000"/>
            <a:ext cx="1170800" cy="1200"/>
          </a:xfrm>
          <a:prstGeom prst="straightConnector1">
            <a:avLst/>
          </a:prstGeom>
          <a:noFill/>
          <a:ln w="19050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6" name="Google Shape;256;p20"/>
          <p:cNvSpPr txBox="1"/>
          <p:nvPr/>
        </p:nvSpPr>
        <p:spPr>
          <a:xfrm>
            <a:off x="214833" y="6238695"/>
            <a:ext cx="29404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1600">
                <a:solidFill>
                  <a:srgbClr val="6871FF"/>
                </a:solidFill>
                <a:latin typeface="Nunito Light"/>
                <a:ea typeface="Nunito Light"/>
                <a:cs typeface="Nunito Light"/>
                <a:sym typeface="Nunito Light"/>
              </a:rPr>
              <a:t>OME-ZARR</a:t>
            </a:r>
            <a:endParaRPr sz="1600">
              <a:solidFill>
                <a:srgbClr val="6871FF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94F32-6B03-1733-F964-FCD3FE88F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DE" dirty="0"/>
              <a:t>OME-Zarr versions!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19C3F-56A5-DDC2-1D24-DBFCE9B5E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9587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DE" dirty="0"/>
              <a:t>OME-Zarr 0.4</a:t>
            </a:r>
          </a:p>
          <a:p>
            <a:pPr lvl="1">
              <a:lnSpc>
                <a:spcPct val="100000"/>
              </a:lnSpc>
            </a:pPr>
            <a:r>
              <a:rPr lang="en-DE" dirty="0"/>
              <a:t>Based on Zarr 2</a:t>
            </a:r>
          </a:p>
          <a:p>
            <a:pPr lvl="2">
              <a:lnSpc>
                <a:spcPct val="100000"/>
              </a:lnSpc>
            </a:pPr>
            <a:r>
              <a:rPr lang="en-DE" dirty="0"/>
              <a:t>no sharding</a:t>
            </a:r>
          </a:p>
          <a:p>
            <a:pPr lvl="2">
              <a:lnSpc>
                <a:spcPct val="100000"/>
              </a:lnSpc>
            </a:pPr>
            <a:r>
              <a:rPr lang="en-GB" dirty="0"/>
              <a:t>a</a:t>
            </a:r>
            <a:r>
              <a:rPr lang="en-DE" dirty="0"/>
              <a:t>ttribute files: .zattrs .zgroup</a:t>
            </a:r>
          </a:p>
          <a:p>
            <a:pPr>
              <a:lnSpc>
                <a:spcPct val="100000"/>
              </a:lnSpc>
            </a:pPr>
            <a:r>
              <a:rPr lang="en-DE" dirty="0"/>
              <a:t>OME-Zarr 0.5</a:t>
            </a:r>
          </a:p>
          <a:p>
            <a:pPr lvl="1">
              <a:lnSpc>
                <a:spcPct val="100000"/>
              </a:lnSpc>
            </a:pPr>
            <a:r>
              <a:rPr lang="en-DE" dirty="0"/>
              <a:t>Based on Zarr 3</a:t>
            </a:r>
          </a:p>
          <a:p>
            <a:pPr lvl="2">
              <a:lnSpc>
                <a:spcPct val="100000"/>
              </a:lnSpc>
            </a:pPr>
            <a:r>
              <a:rPr lang="en-GB" dirty="0"/>
              <a:t>with s</a:t>
            </a:r>
            <a:r>
              <a:rPr lang="en-DE" dirty="0"/>
              <a:t>harding</a:t>
            </a:r>
          </a:p>
          <a:p>
            <a:pPr lvl="2">
              <a:lnSpc>
                <a:spcPct val="100000"/>
              </a:lnSpc>
            </a:pPr>
            <a:r>
              <a:rPr lang="en-GB" dirty="0"/>
              <a:t>a</a:t>
            </a:r>
            <a:r>
              <a:rPr lang="en-DE" dirty="0"/>
              <a:t>ttribute files: zarr.json</a:t>
            </a:r>
          </a:p>
          <a:p>
            <a:pPr lvl="1">
              <a:lnSpc>
                <a:spcPct val="100000"/>
              </a:lnSpc>
            </a:pPr>
            <a:r>
              <a:rPr lang="en-DE" dirty="0"/>
              <a:t>Currently does not open in Fiji </a:t>
            </a:r>
            <a:r>
              <a:rPr lang="en-DE" dirty="0">
                <a:sym typeface="Wingdings" pitchFamily="2" charset="2"/>
              </a:rPr>
              <a:t>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986688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2637-9D28-FAA7-CC7E-0D95B7701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599" y="593367"/>
            <a:ext cx="11671297" cy="763600"/>
          </a:xfrm>
        </p:spPr>
        <p:txBody>
          <a:bodyPr>
            <a:noAutofit/>
          </a:bodyPr>
          <a:lstStyle/>
          <a:p>
            <a:r>
              <a:rPr lang="en-DE" sz="3600" dirty="0"/>
              <a:t>Sharing big image data with external collaborators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5500D-36D6-2718-DA8B-DA50A6ACC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734428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650CEBE-B5E1-05B3-E629-CCA35F580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70" y="325822"/>
            <a:ext cx="10742577" cy="604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8704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B74822-0795-A157-B999-CF2C9B906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605626" y="2496150"/>
            <a:ext cx="1844194" cy="18544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FEEFF4-9B9F-4F8E-BBFE-B277D78A38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10727" b="12317"/>
          <a:stretch/>
        </p:blipFill>
        <p:spPr>
          <a:xfrm>
            <a:off x="4895850" y="4150756"/>
            <a:ext cx="2057400" cy="158329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465C50-9478-22BF-F545-FABB7C047DC3}"/>
              </a:ext>
            </a:extLst>
          </p:cNvPr>
          <p:cNvCxnSpPr>
            <a:cxnSpLocks/>
            <a:stCxn id="3" idx="3"/>
            <a:endCxn id="5" idx="0"/>
          </p:cNvCxnSpPr>
          <p:nvPr/>
        </p:nvCxnSpPr>
        <p:spPr>
          <a:xfrm>
            <a:off x="4449820" y="3423399"/>
            <a:ext cx="1474730" cy="7273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F482B2C-35C0-1A40-30DC-EBD4864D920A}"/>
              </a:ext>
            </a:extLst>
          </p:cNvPr>
          <p:cNvSpPr txBox="1"/>
          <p:nvPr/>
        </p:nvSpPr>
        <p:spPr>
          <a:xfrm>
            <a:off x="4687331" y="3745388"/>
            <a:ext cx="576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http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07E732-9AD2-608B-CFC4-83D62720C47D}"/>
              </a:ext>
            </a:extLst>
          </p:cNvPr>
          <p:cNvSpPr txBox="1"/>
          <p:nvPr/>
        </p:nvSpPr>
        <p:spPr>
          <a:xfrm>
            <a:off x="5090825" y="3238733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/>
              <a:t>ftp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38A416-C363-FD45-4CB2-4EBC8A0B3581}"/>
              </a:ext>
            </a:extLst>
          </p:cNvPr>
          <p:cNvSpPr txBox="1"/>
          <p:nvPr/>
        </p:nvSpPr>
        <p:spPr>
          <a:xfrm>
            <a:off x="5479677" y="3550680"/>
            <a:ext cx="639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999017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0D2F-1DDF-A9F9-A4B9-19EAD236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Zarr version 2 and version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8DB53-0C0A-F073-1148-9E785837F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32593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3170</TotalTime>
  <Words>898</Words>
  <Application>Microsoft Macintosh PowerPoint</Application>
  <PresentationFormat>Widescreen</PresentationFormat>
  <Paragraphs>172</Paragraphs>
  <Slides>26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Courier New</vt:lpstr>
      <vt:lpstr>Nunito</vt:lpstr>
      <vt:lpstr>Nunito Light</vt:lpstr>
      <vt:lpstr>Wingdings</vt:lpstr>
      <vt:lpstr>Office Theme</vt:lpstr>
      <vt:lpstr>The OME-Zarr  image data format</vt:lpstr>
      <vt:lpstr>Content day 1</vt:lpstr>
      <vt:lpstr>Content day 2</vt:lpstr>
      <vt:lpstr>Resources</vt:lpstr>
      <vt:lpstr>PowerPoint Presentation</vt:lpstr>
      <vt:lpstr>PowerPoint Presentation</vt:lpstr>
      <vt:lpstr>PowerPoint Presentation</vt:lpstr>
      <vt:lpstr>PowerPoint Presentation</vt:lpstr>
      <vt:lpstr>Image data and metadata example</vt:lpstr>
      <vt:lpstr>PowerPoint Presentation</vt:lpstr>
      <vt:lpstr>PowerPoint Presentation</vt:lpstr>
      <vt:lpstr>OME-TIFF specification for  XYZCT image series</vt:lpstr>
      <vt:lpstr>PowerPoint Presentation</vt:lpstr>
      <vt:lpstr>Big image data challenges</vt:lpstr>
      <vt:lpstr>Multi-resolution and chunking</vt:lpstr>
      <vt:lpstr>OME-Zarr specification for  chunked multi-resolution XYZCT images</vt:lpstr>
      <vt:lpstr>OME-Zarr:  a chunked file format</vt:lpstr>
      <vt:lpstr>PowerPoint Presentation</vt:lpstr>
      <vt:lpstr>PowerPoint Presentation</vt:lpstr>
      <vt:lpstr>PowerPoint Presentation</vt:lpstr>
      <vt:lpstr>PowerPoint Presentation</vt:lpstr>
      <vt:lpstr>OME-Zarr versions!</vt:lpstr>
      <vt:lpstr>Sharing big image data with external collaborators</vt:lpstr>
      <vt:lpstr>PowerPoint Presentation</vt:lpstr>
      <vt:lpstr>PowerPoint Presentation</vt:lpstr>
      <vt:lpstr>Zarr version 2 and version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Tischer</dc:creator>
  <cp:lastModifiedBy>Christian Tischer</cp:lastModifiedBy>
  <cp:revision>10</cp:revision>
  <dcterms:created xsi:type="dcterms:W3CDTF">2026-05-18T05:50:17Z</dcterms:created>
  <dcterms:modified xsi:type="dcterms:W3CDTF">2026-05-20T10:40:38Z</dcterms:modified>
</cp:coreProperties>
</file>